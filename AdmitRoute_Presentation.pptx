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troute_line_logo_17895491048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22960"/>
            <a:ext cx="1645920" cy="1645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" y="2743200"/>
            <a:ext cx="3108960" cy="38404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LOCUS HACKATHON 2026 • КЕЙС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FFFFF"/>
                </a:solidFill>
                <a:latin typeface="Arial"/>
              </a:defRPr>
            </a:pPr>
            <a:r>
              <a:t>AdmitRoute</a:t>
            </a:r>
          </a:p>
          <a:p>
            <a:pPr>
              <a:spcBef>
                <a:spcPts val="600"/>
              </a:spcBef>
              <a:defRPr sz="1800">
                <a:solidFill>
                  <a:srgbClr val="94A3B8"/>
                </a:solidFill>
                <a:latin typeface="Arial"/>
              </a:defRPr>
            </a:pPr>
            <a:r>
              <a:t>Умная AI-платформа для честного поступления в университеты Казахстана и мира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Алгоритм «Анти-иллюзия»: защита от ложных надежд и отказа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36+ детальных программ + живой AI-поиск любого вуза планеты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Персональный роадмап дедлайнов, экспорт в iCal и Telegram-бот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Доступность для каждой семьи: 4 990 ₸ вместо $2,000 в агентствах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1. 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С чем сталкивается абитуриент и его семья?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Поступление в университет сопряжено с непрозрачностью, огромными финансовыми затратами и риском потери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Информационный хаос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Сотни сайтов вузов на разных языках, скрытые требования, разрозненные даты ранней и поздней волн подачи. Поиск отнимает до 120 часов рутинного времени.</a:t>
            </a:r>
          </a:p>
          <a:p>
            <a:pPr>
              <a:spcBef>
                <a:spcPts val="24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120+ часов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тратит семья на ручной сбор информации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Дорогие агентства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Консалтинговые компании берут от $1,500 до $4,000 за подачу документов, часто продвигая коммерческие платные вузы-партнеры без гарантий гранта.</a:t>
            </a:r>
          </a:p>
          <a:p>
            <a:pPr>
              <a:spcBef>
                <a:spcPts val="24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$1,500 – $4,000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средний чек консалтинга в Казахстане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Ложные надежды и отказ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Без объективной аналитики абитуриенты подают только в недосягаемые Reach-вузы и при отказе теряют целый учебный год, оставаясь без альтернатив.</a:t>
            </a:r>
          </a:p>
          <a:p>
            <a:pPr>
              <a:spcBef>
                <a:spcPts val="24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до 45% отказов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из-за несбалансированного списка вузов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2. 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AdmitRoute: Персональный AI-навигатор поступления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Объективная математическая оценка шансов, строгая защита от иллюзий и персональный пошаговый маршрут.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МАТЕМАТИЧЕСКИЙ СКОРИНГ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Прозрачный расчет шансов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Алгоритм сопоставляет GPA, IELTS/TOEFL, SAT/ЕНТ и активности с реальными требованиями вузов. Категоризация: Safety (надежные), Target (целевые), Reach (сложные), Unlikely (маловероятные).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Точный расчет шансов в %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Выявление академических пробелов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Качественное объяснение «Почему подходит»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АНТИ-ИЛЛЮЗИЯ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Защита от риска отказа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Система не дает ложных надежд: если профиль слаб для элитной программы, AdmitRoute прямо указывает на низкую вероятность (&lt;12%) и предлагает гарантированные альтернативы со стипендиями.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Предупреждения приемной комиссии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Обязательная балансировка Safety-вузов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Страховка от потери года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ПОШАГОВЫЙ РОАДМАП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План действий до дедлайна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Формирование персонального графика с 3 волнами подачи (ранняя, регулярная, поздняя), статистики грантов прошлого года и генератора каркаса мотивационного письма (Personal Statement).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Сроки Early / Regular / Late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Прошлогодний конкурс на место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Индивидуальный чек-лист документов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3. ЦЕЛЕВАЯ АУДИТОРИЯ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Кто наши пользователи и кто принимает решение?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Четкая сегментация аудитории с глубоким пониманием болей каждого сегмента и ценности AdmitRoute.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defRPr sz="950" b="1">
                <a:solidFill>
                  <a:srgbClr val="2563EB"/>
                </a:solidFill>
                <a:latin typeface="Arial"/>
              </a:defRPr>
            </a:pPr>
            <a:r>
              <a:t>B2C • КОНЕЧНЫЙ ПОЛЬЗОВАТЕЛЬ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Выпускники 10–11 классов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Учащиеся школ, лицеев, НИШ и БИЛ, нацеленные на поступление на грант в Казахстане, Европе, Азии или США.</a:t>
            </a:r>
          </a:p>
          <a:p>
            <a:pPr>
              <a:spcBef>
                <a:spcPts val="1000"/>
              </a:spcBef>
              <a:defRPr sz="1000" b="1">
                <a:solidFill>
                  <a:srgbClr val="E11D48"/>
                </a:solidFill>
                <a:latin typeface="Arial"/>
              </a:defRPr>
            </a:pPr>
            <a:r>
              <a:t>КЛЮЧЕВЫЕ БОЛИ: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Информационный хаос (120+ часов на сайты)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Непонимание реальных шансов на грант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Страх провалить дедлайны и потерять год</a:t>
            </a:r>
          </a:p>
          <a:p>
            <a:pPr>
              <a:spcBef>
                <a:spcPts val="1000"/>
              </a:spcBef>
              <a:defRPr sz="1000" b="1">
                <a:solidFill>
                  <a:srgbClr val="10B981"/>
                </a:solidFill>
                <a:latin typeface="Arial"/>
              </a:defRPr>
            </a:pPr>
            <a:r>
              <a:t>ЦЕННОСТЬ ADMITROUTE: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Точный расчет шансов в % без иллюзий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Персональный роадмап и Safety-вузы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Бот в Telegram с напоминаниями дедлайнов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defRPr sz="950" b="1">
                <a:solidFill>
                  <a:srgbClr val="7C3AED"/>
                </a:solidFill>
                <a:latin typeface="Arial"/>
              </a:defRPr>
            </a:pPr>
            <a:r>
              <a:t>B2C • ПЛАТЕЛЬЩИК И СЕМЬЯ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Родители абитуриентов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Принимают финансовые решения в семье, несут колоссальную эмоциональную нагрузку и оплачивают подготовку.</a:t>
            </a:r>
          </a:p>
          <a:p>
            <a:pPr>
              <a:spcBef>
                <a:spcPts val="1000"/>
              </a:spcBef>
              <a:defRPr sz="1000" b="1">
                <a:solidFill>
                  <a:srgbClr val="E11D48"/>
                </a:solidFill>
                <a:latin typeface="Arial"/>
              </a:defRPr>
            </a:pPr>
            <a:r>
              <a:t>КЛЮЧЕВЫЕ БОЛИ: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Огромные чеки агентств ($1,500 – $4,000)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Риск потери бюджета и навязывание платных вузов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Неведение: на каком этапе подготовка ребенка</a:t>
            </a:r>
          </a:p>
          <a:p>
            <a:pPr>
              <a:spcBef>
                <a:spcPts val="1000"/>
              </a:spcBef>
              <a:defRPr sz="1000" b="1">
                <a:solidFill>
                  <a:srgbClr val="10B981"/>
                </a:solidFill>
                <a:latin typeface="Arial"/>
              </a:defRPr>
            </a:pPr>
            <a:r>
              <a:t>ЦЕННОСТЬ ADMITROUTE: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Экономия семейного бюджета (подписка 4 990 ₸)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Шеринг-ссылка для родительского контроля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Уверенность и спокойствие за будущее ребенка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defRPr sz="950" b="1">
                <a:solidFill>
                  <a:srgbClr val="10B981"/>
                </a:solidFill>
                <a:latin typeface="Arial"/>
              </a:defRPr>
            </a:pPr>
            <a:r>
              <a:t>B2B • ПАРТНЕРСТВО И МАСШТАБ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Школы и EdTech-центры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Школьные профориентаторы, образовательные центры подготовки к ЕНТ/IELTS и частные консультанты.</a:t>
            </a:r>
          </a:p>
          <a:p>
            <a:pPr>
              <a:spcBef>
                <a:spcPts val="1000"/>
              </a:spcBef>
              <a:defRPr sz="1000" b="1">
                <a:solidFill>
                  <a:srgbClr val="E11D48"/>
                </a:solidFill>
                <a:latin typeface="Arial"/>
              </a:defRPr>
            </a:pPr>
            <a:r>
              <a:t>КЛЮЧЕВЫЕ БОЛИ: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1 профориентатор на 200+ учеников школы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Ручной сбор дедлайнов в Excel-таблицах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Arial"/>
              </a:defRPr>
            </a:pPr>
            <a:r>
              <a:t>✕ Сложность составления отчетов родителям</a:t>
            </a:r>
          </a:p>
          <a:p>
            <a:pPr>
              <a:spcBef>
                <a:spcPts val="1000"/>
              </a:spcBef>
              <a:defRPr sz="1000" b="1">
                <a:solidFill>
                  <a:srgbClr val="10B981"/>
                </a:solidFill>
                <a:latin typeface="Arial"/>
              </a:defRPr>
            </a:pPr>
            <a:r>
              <a:t>ЦЕННОСТЬ ADMITROUTE: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Единая панель мониторинга всех учеников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Экспорт красивых отчетов для родителей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✓ Повышение % поступления учеников на гранты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4. 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Пользовательский путь: от анкеты до гранта за 3 минуты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Бесшовный интерактивный сценарий, полностью закрывающий требования Кейса 02 LOCUS Hackathon.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1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Анкета и диагностика профиля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Ученик указывает класс, специальность, GPA, баллы IELTS/SAT/ЕНТ, бюджет и внеучебные активности. Алгоритм формирует мгновенное резюме сильных сторон и ограничений.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2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Сбалансированные рекомендации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Каталог из 36+ детальных программ (KZ, Азия, Европа, США) с распределением на Reach, Target и Safety. Возможность сравнения любых 2 вузов по 8 ключевым критериям.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3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Живой AI-поиск любого вуза мира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Ввод названия любого университета (Тренто, Bocconi, Waterloo, КБТУ, СДУ) — Gemini 3.6 Flash мгновенно выдает точную карточку с волнами, грантами и персональным шансом.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069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4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Канбан-трекер, эссе, бот и шеринг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Индивидуальный роадмап дедлайнов, экспорт в календарь (.ics), генератор каркаса эссе, Telegram-бот с уведомлениями и ссылки доступа для родителей и менторов.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5. КОНКУРЕНТНЫЙ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Почему AdmitRoute побеждает альтернативы на рынке?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Сравнение с традиционным консалтингом, обычными чат-ботами общего назначения и сайтами вузов.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420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850" b="1">
                <a:solidFill>
                  <a:srgbClr val="64748B"/>
                </a:solidFill>
                <a:latin typeface="Arial"/>
              </a:defRPr>
            </a:pPr>
            <a:r>
              <a:t>ТРАДИЦИОННЫЙ КОНСАЛТИНГ</a:t>
            </a:r>
          </a:p>
          <a:p>
            <a:pPr>
              <a:spcBef>
                <a:spcPts val="300"/>
              </a:spcBef>
              <a:defRPr sz="1350" b="1">
                <a:solidFill>
                  <a:srgbClr val="0F172A"/>
                </a:solidFill>
                <a:latin typeface="Arial"/>
              </a:defRPr>
            </a:pPr>
            <a:r>
              <a:t>Агентства поступления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$1,500 – $4,000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за сопровождение 1 абитуриента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Заоблачная стоимость для 95% семей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Навязывают платные вузы за комиссию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Субъективная оценка «на глаз» куратора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Долгие ручные созвоны и бюрократия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Нет объективной гарантии гранта</a:t>
            </a:r>
          </a:p>
          <a:p>
            <a:pPr>
              <a:spcBef>
                <a:spcPts val="1200"/>
              </a:spcBef>
              <a:defRPr sz="950" b="1">
                <a:solidFill>
                  <a:srgbClr val="E11D48"/>
                </a:solidFill>
                <a:latin typeface="Arial"/>
              </a:defRPr>
            </a:pPr>
            <a:r>
              <a:t>ИТОГ: Дорого и ангажированно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783080"/>
            <a:ext cx="25420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850" b="1">
                <a:solidFill>
                  <a:srgbClr val="64748B"/>
                </a:solidFill>
                <a:latin typeface="Arial"/>
              </a:defRPr>
            </a:pPr>
            <a:r>
              <a:t>ОБЫЧНЫЕ ЧАТ-БОТЫ (ИИ)</a:t>
            </a:r>
          </a:p>
          <a:p>
            <a:pPr>
              <a:spcBef>
                <a:spcPts val="300"/>
              </a:spcBef>
              <a:defRPr sz="1350" b="1">
                <a:solidFill>
                  <a:srgbClr val="0F172A"/>
                </a:solidFill>
                <a:latin typeface="Arial"/>
              </a:defRPr>
            </a:pPr>
            <a:r>
              <a:t>ChatGPT / Claude / Gemini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$0 – $20 / мес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подписка на веб-сервисы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Галлюцинации и выдуманные требования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Не знают порогов ЕНТ и квот РК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Нет математического расчета шансов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Нет интерактивного роадмапа и календаря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Нет шеринга родителям и Telegram-бота</a:t>
            </a:r>
          </a:p>
          <a:p>
            <a:pPr>
              <a:spcBef>
                <a:spcPts val="1200"/>
              </a:spcBef>
              <a:defRPr sz="950" b="1">
                <a:solidFill>
                  <a:srgbClr val="E11D48"/>
                </a:solidFill>
                <a:latin typeface="Arial"/>
              </a:defRPr>
            </a:pPr>
            <a:r>
              <a:t>ИТОГ: Риск дезинформации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783080"/>
            <a:ext cx="25420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850" b="1">
                <a:solidFill>
                  <a:srgbClr val="64748B"/>
                </a:solidFill>
                <a:latin typeface="Arial"/>
              </a:defRPr>
            </a:pPr>
            <a:r>
              <a:t>КАТАЛОГИ И САЙТЫ ВУЗОВ</a:t>
            </a:r>
          </a:p>
          <a:p>
            <a:pPr>
              <a:spcBef>
                <a:spcPts val="300"/>
              </a:spcBef>
              <a:defRPr sz="1350" b="1">
                <a:solidFill>
                  <a:srgbClr val="0F172A"/>
                </a:solidFill>
                <a:latin typeface="Arial"/>
              </a:defRPr>
            </a:pPr>
            <a:r>
              <a:t>Kundelik, сайты вузов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0 ₸ (Бесплатно)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открытые веб-страницы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Разрозненный хаос на сотнях сайтов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Устаревшие правила и даты волн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Нет адаптации под баллы студента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Нет защиты от ложных надежд</a:t>
            </a:r>
          </a:p>
          <a:p>
            <a:pPr>
              <a:spcBef>
                <a:spcPts val="500"/>
              </a:spcBef>
              <a:defRPr sz="900">
                <a:solidFill>
                  <a:srgbClr val="475569"/>
                </a:solidFill>
                <a:latin typeface="Arial"/>
              </a:defRPr>
            </a:pPr>
            <a:r>
              <a:t>✕ 120+ часов на ручной поиск данных</a:t>
            </a:r>
          </a:p>
          <a:p>
            <a:pPr>
              <a:spcBef>
                <a:spcPts val="1200"/>
              </a:spcBef>
              <a:defRPr sz="950" b="1">
                <a:solidFill>
                  <a:srgbClr val="E11D48"/>
                </a:solidFill>
                <a:latin typeface="Arial"/>
              </a:defRPr>
            </a:pPr>
            <a:r>
              <a:t>ИТОГ: Информационный хаос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783080"/>
            <a:ext cx="2542032" cy="457200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850" b="1">
                <a:solidFill>
                  <a:srgbClr val="2563EB"/>
                </a:solidFill>
                <a:latin typeface="Arial"/>
              </a:defRPr>
            </a:pPr>
            <a:r>
              <a:t>НАШЕ ПРЕИМУЩЕСТВО</a:t>
            </a:r>
          </a:p>
          <a:p>
            <a:pPr>
              <a:spcBef>
                <a:spcPts val="300"/>
              </a:spcBef>
              <a:defRPr sz="1350" b="1">
                <a:solidFill>
                  <a:srgbClr val="2563EB"/>
                </a:solidFill>
                <a:latin typeface="Arial"/>
              </a:defRPr>
            </a:pPr>
            <a:r>
              <a:t>AdmitRoute (Победитель)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0 ₸ / 4 990 ₸ мес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Freemium + доступный PRO</a:t>
            </a:r>
          </a:p>
          <a:p>
            <a:pPr>
              <a:spcBef>
                <a:spcPts val="500"/>
              </a:spcBef>
              <a:defRPr sz="900" b="1">
                <a:solidFill>
                  <a:srgbClr val="0F172A"/>
                </a:solidFill>
                <a:latin typeface="Arial"/>
              </a:defRPr>
            </a:pPr>
            <a:r>
              <a:t>✓ Математический скоринг шансов в %</a:t>
            </a:r>
          </a:p>
          <a:p>
            <a:pPr>
              <a:spcBef>
                <a:spcPts val="500"/>
              </a:spcBef>
              <a:defRPr sz="900" b="1">
                <a:solidFill>
                  <a:srgbClr val="0F172A"/>
                </a:solidFill>
                <a:latin typeface="Arial"/>
              </a:defRPr>
            </a:pPr>
            <a:r>
              <a:t>✓ Алгоритм «Анти-иллюзия» против отказа</a:t>
            </a:r>
          </a:p>
          <a:p>
            <a:pPr>
              <a:spcBef>
                <a:spcPts val="500"/>
              </a:spcBef>
              <a:defRPr sz="900" b="1">
                <a:solidFill>
                  <a:srgbClr val="0F172A"/>
                </a:solidFill>
                <a:latin typeface="Arial"/>
              </a:defRPr>
            </a:pPr>
            <a:r>
              <a:t>✓ База РК и мира + живой AI-поиск</a:t>
            </a:r>
          </a:p>
          <a:p>
            <a:pPr>
              <a:spcBef>
                <a:spcPts val="500"/>
              </a:spcBef>
              <a:defRPr sz="900" b="1">
                <a:solidFill>
                  <a:srgbClr val="0F172A"/>
                </a:solidFill>
                <a:latin typeface="Arial"/>
              </a:defRPr>
            </a:pPr>
            <a:r>
              <a:t>✓ Дедлайны в iCal + Telegram-напоминания</a:t>
            </a:r>
          </a:p>
          <a:p>
            <a:pPr>
              <a:spcBef>
                <a:spcPts val="500"/>
              </a:spcBef>
              <a:defRPr sz="900" b="1">
                <a:solidFill>
                  <a:srgbClr val="0F172A"/>
                </a:solidFill>
                <a:latin typeface="Arial"/>
              </a:defRPr>
            </a:pPr>
            <a:r>
              <a:t>✓ Шеринг-ссылки для родителей и менторов</a:t>
            </a:r>
          </a:p>
          <a:p>
            <a:pPr>
              <a:spcBef>
                <a:spcPts val="1200"/>
              </a:spcBef>
              <a:defRPr sz="950" b="1">
                <a:solidFill>
                  <a:srgbClr val="2563EB"/>
                </a:solidFill>
                <a:latin typeface="Arial"/>
              </a:defRPr>
            </a:pPr>
            <a:r>
              <a:t>ИТОГ: Честно, точно и доступно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6. РЫНОЧНЫЙ ПОТЕНЦИАЛ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Объем рынка и растущий спрос на высшее образование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Казахстан и Центральная Азия демонстрируют рекордный спрос на гранты и зарубежное образование.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2800" b="1">
                <a:solidFill>
                  <a:srgbClr val="2563EB"/>
                </a:solidFill>
                <a:latin typeface="Arial"/>
              </a:defRPr>
            </a:pPr>
            <a:r>
              <a:t>180 000+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Выпускников школ в Казахстане ежегодно (TAM)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Ежегодный растущий поток абитуриентов, поступающих в бакалавриат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2800" b="1">
                <a:solidFill>
                  <a:srgbClr val="2563EB"/>
                </a:solidFill>
                <a:latin typeface="Arial"/>
              </a:defRPr>
            </a:pPr>
            <a:r>
              <a:t>35 000+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Абитуриентов, поступающих за рубеж (SAM)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Высокий спрос на обучение в Европе (Италия DSU, Германия), Турции, Азии и США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2800" b="1">
                <a:solidFill>
                  <a:srgbClr val="2563EB"/>
                </a:solidFill>
                <a:latin typeface="Arial"/>
              </a:defRPr>
            </a:pPr>
            <a:r>
              <a:t>75 000+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Государственных грантов РК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Жесткая конкуренция требует точного сопоставления баллов с проходными порогами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069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2800" b="1">
                <a:solidFill>
                  <a:srgbClr val="2563EB"/>
                </a:solidFill>
                <a:latin typeface="Arial"/>
              </a:defRPr>
            </a:pPr>
            <a:r>
              <a:t>+38%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Ежегодный рост запросов на гранты и стипендии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Растущая потребность в программах полного финансирования: DSU, Stipendium, CSC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7. 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Монетизация: B2C подписка и B2B партнерства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Прозрачное меню сравнения тарифов Free vs PRO и масштабируемые партнерства со школами.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БЕСПЛАТНО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0 ₸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Freemium (Базовый)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Максимальный органический охват абитуриентов: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Расчет шансов в топ-36 университетов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Классификация Safety / Target / Reach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Базовый роадмап и 3 волны дедлайнов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Лимит: 1 поиск гостю, 6 на Free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ХИТ ПРОДАЖ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4 990 ₸ / мес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AdmitRoute PRO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Для абитуриентов, нацеленных на гранты и зарубеж: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Безлимитный AI-поиск любого вуза мира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Генератор каркаса эссе (Personal Statement)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Глубокий аудит портфолио и активностей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Прямой чат с основателем по поступлению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B2B ПАРТНЕРСТВО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Индивидуально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Для школ и центров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Инструмент для образовательных центров и языковых школ: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Кабинет консультанта и профориентатора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Отслеживание дедлайнов учеников класса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White-label отчеты для родителей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Пакетные скидки на подписки PRO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8.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Архитектура решения и технологический стек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Отказоустойчивая архитектура: сверхбыстрый AI-инференс, глобальная БД и Telegram-автоматизация.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7C3AED"/>
                </a:solidFill>
                <a:latin typeface="Arial"/>
              </a:defRPr>
            </a:pPr>
            <a:r>
              <a:t>ИСКУССТВЕННЫЙ ИНТЕЛЛЕКТ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Google Gemini 3.6 Flash + Grounded Base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Связка новейшего API Gemini 3.6 Flash с верифицированной базой программ (130+ направлений): точные пороги ЕНТ, IELTS, реальные гранты и стоимость без галлюцинаций.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ОБЛАЧНАЯ БАЗА ДАННЫХ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Neon Serverless PostgreSQL (AWS us-east-2)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Бессерверная реляционная БД с мгновенным масштабированием и RLS-безопасностью. Централизованное хранение профилей, Live-чата и трекеров с отказоустойчивой синхронизацией.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СОВРЕМЕННЫЙ ФРОНТЕНД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React 19 • TypeScript • Vite • Tailwind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Мгновенная скорость работы (отклик &lt;0.2 сек), строгая типизация, полная адаптивность под мобильные устройства и экспорт персональных дедлайнов в формат .ics (iCalendar).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06908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ФОНОВАЯ АВТОМАТИЗАЦИЯ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Telegram Bot Webhooks • Vercel Cron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Serverless-архитектура без постоянных расходов: мгновенная обработка команд в Telegram через Webhook и автоматические напоминания о дедлайнах за 14, 7, 3 и 1 день.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troute_line_logo_17895491048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229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AdmitRoute: Поступление без стресса и иллюзий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Проект создан в рамках LOCUS Startup Hackathon 2026 (Кейс 02: Персональный маршрут поступления, код LOCUSCASE2).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ОСНОВАТЕЛЬ И РАЗРАБОТКА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Адильхан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Product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WHATSAPP / ТЕЛЕФОН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+7 775 253 01 10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Прямая связь и оформление PRO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TELEGRAM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@nftkoroi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Оперативные ответы в мессенджере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