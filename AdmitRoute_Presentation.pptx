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dmitroute_line_logo_178954910489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05840"/>
            <a:ext cx="1645920" cy="16459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22960" y="2926080"/>
            <a:ext cx="2926080" cy="38404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Arial"/>
              </a:defRPr>
            </a:pPr>
            <a:r>
              <a:t>AI-EDTECH PLATFORM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Arial"/>
              </a:defRPr>
            </a:pPr>
            <a:r>
              <a:t>AdmitRoute</a:t>
            </a:r>
          </a:p>
          <a:p>
            <a:pPr>
              <a:spcBef>
                <a:spcPts val="1000"/>
              </a:spcBef>
              <a:defRPr sz="2000">
                <a:solidFill>
                  <a:srgbClr val="94A3B8"/>
                </a:solidFill>
                <a:latin typeface="Arial"/>
              </a:defRPr>
            </a:pPr>
            <a:r>
              <a:t>Умная AI-платформа для честного поступления в университеты Казахстана и мира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2E8F0"/>
                </a:solidFill>
                <a:latin typeface="Arial"/>
              </a:defRPr>
            </a:pPr>
            <a:r>
              <a:t>✓ Защита от иллюзий: честный процент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51206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2E8F0"/>
                </a:solidFill>
                <a:latin typeface="Arial"/>
              </a:defRPr>
            </a:pPr>
            <a:r>
              <a:t>✓ 36+ детальных вузов (KZ, Азия, Европа)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607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2E8F0"/>
                </a:solidFill>
                <a:latin typeface="Arial"/>
              </a:defRPr>
            </a:pPr>
            <a:r>
              <a:t>✓ Поиск любого вуза через Gemini 3.6 Flash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57607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2E8F0"/>
                </a:solidFill>
                <a:latin typeface="Arial"/>
              </a:defRPr>
            </a:pPr>
            <a:r>
              <a:t>✓ 3 волны дедлайнов и статистика грантов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ПРОБЛЕМА РЫНКА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С чем сталкивается каждый абитуриент и родитель?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Поступление в вуз сегодня сопряжено с колоссальным стрессом, непрозрачностью и финансовыми рисками.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2800" b="1">
                <a:solidFill>
                  <a:srgbClr val="E11D48"/>
                </a:solidFill>
                <a:latin typeface="Arial"/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sz="1700" b="1">
                <a:solidFill>
                  <a:srgbClr val="0F172A"/>
                </a:solidFill>
                <a:latin typeface="Arial"/>
              </a:defRPr>
            </a:pPr>
            <a:r>
              <a:t>Информационный хаос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Сотни разрозненных сайтов университетов на разных языках, скрытые или противоречивые требования, запутанные дедлайны разных волн поступления.</a:t>
            </a:r>
          </a:p>
          <a:p>
            <a:pPr>
              <a:spcBef>
                <a:spcPts val="2400"/>
              </a:spcBef>
              <a:defRPr sz="1800" b="1">
                <a:solidFill>
                  <a:srgbClr val="0F172A"/>
                </a:solidFill>
                <a:latin typeface="Arial"/>
              </a:defRPr>
            </a:pPr>
            <a:r>
              <a:t>82% абитуриентов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тратят более 100 часов на ручной поиск данных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2800" b="1">
                <a:solidFill>
                  <a:srgbClr val="E11D48"/>
                </a:solidFill>
                <a:latin typeface="Arial"/>
              </a:defRPr>
            </a:pPr>
            <a:r>
              <a:t>02</a:t>
            </a:r>
          </a:p>
          <a:p>
            <a:pPr>
              <a:spcBef>
                <a:spcPts val="800"/>
              </a:spcBef>
              <a:defRPr sz="1700" b="1">
                <a:solidFill>
                  <a:srgbClr val="0F172A"/>
                </a:solidFill>
                <a:latin typeface="Arial"/>
              </a:defRPr>
            </a:pPr>
            <a:r>
              <a:t>Дорогие агентства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Консалтинговые агентства берут от $1,000 до $5,000 за подачу документов, при этом часто продвигают партнерские платные вузы без гарантий гранта.</a:t>
            </a:r>
          </a:p>
          <a:p>
            <a:pPr>
              <a:spcBef>
                <a:spcPts val="2400"/>
              </a:spcBef>
              <a:defRPr sz="1800" b="1">
                <a:solidFill>
                  <a:srgbClr val="0F172A"/>
                </a:solidFill>
                <a:latin typeface="Arial"/>
              </a:defRPr>
            </a:pPr>
            <a:r>
              <a:t>$1,500 – $4,000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средняя стоимость услуг агентств в Казахстане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92024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2800" b="1">
                <a:solidFill>
                  <a:srgbClr val="E11D48"/>
                </a:solidFill>
                <a:latin typeface="Arial"/>
              </a:defRPr>
            </a:pPr>
            <a:r>
              <a:t>03</a:t>
            </a:r>
          </a:p>
          <a:p>
            <a:pPr>
              <a:spcBef>
                <a:spcPts val="800"/>
              </a:spcBef>
              <a:defRPr sz="1700" b="1">
                <a:solidFill>
                  <a:srgbClr val="0F172A"/>
                </a:solidFill>
                <a:latin typeface="Arial"/>
              </a:defRPr>
            </a:pPr>
            <a:r>
              <a:t>Ложные надежды и риск отказа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Абитуриенты без объективной аналитики подают только в недосягаемые топовые вузы (Harvard, Oxford, NU) и при отказе теряют целый учебный год.</a:t>
            </a:r>
          </a:p>
          <a:p>
            <a:pPr>
              <a:spcBef>
                <a:spcPts val="2400"/>
              </a:spcBef>
              <a:defRPr sz="1800" b="1">
                <a:solidFill>
                  <a:srgbClr val="0F172A"/>
                </a:solidFill>
                <a:latin typeface="Arial"/>
              </a:defRPr>
            </a:pPr>
            <a:r>
              <a:t>до 45% отказов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из-за несбалансированного списка программ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НАШЕ РЕШЕНИЕ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AdmitRoute: Ваш персональный AI-навигатор поступления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Интеллектуальная цифровая платформа, заменяющая дорогое агентство объективной математической аналитикой.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000" b="1">
                <a:solidFill>
                  <a:srgbClr val="2563EB"/>
                </a:solidFill>
                <a:latin typeface="Arial"/>
              </a:defRPr>
            </a:pPr>
            <a:r>
              <a:t>МАТЕМАТИЧЕСКИЙ СКОРИНГ</a:t>
            </a:r>
          </a:p>
          <a:p>
            <a:pPr>
              <a:spcBef>
                <a:spcPts val="600"/>
              </a:spcBef>
              <a:defRPr sz="1700" b="1">
                <a:solidFill>
                  <a:srgbClr val="0F172A"/>
                </a:solidFill>
                <a:latin typeface="Arial"/>
              </a:defRPr>
            </a:pPr>
            <a:r>
              <a:t>Объективная оценка шансов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Алгоритм анализирует GPA, языковой сертификат (IELTS/TOEFL), стандартизированные тесты (SAT/ЕНТ) и внеучебные активности, сопоставляя их с реальными проходными порогами.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✓ Категории: Safety, Target, Reach, Unlikely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✓ Точный расчет шанса в процентах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✓ Подробное объяснение слабых мест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000" b="1">
                <a:solidFill>
                  <a:srgbClr val="2563EB"/>
                </a:solidFill>
                <a:latin typeface="Arial"/>
              </a:defRPr>
            </a:pPr>
            <a:r>
              <a:t>АНТИ-ИЛЛЮЗИЯ</a:t>
            </a:r>
          </a:p>
          <a:p>
            <a:pPr>
              <a:spcBef>
                <a:spcPts val="600"/>
              </a:spcBef>
              <a:defRPr sz="1700" b="1">
                <a:solidFill>
                  <a:srgbClr val="0F172A"/>
                </a:solidFill>
                <a:latin typeface="Arial"/>
              </a:defRPr>
            </a:pPr>
            <a:r>
              <a:t>Защита от завышенных ожиданий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Система честно предупреждает о рисках отказа. Если профиль слаб для элитного вуза, AdmitRoute прямо указывает на это и предлагает сильные альтернативы со стипендиями.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✓ Предупреждения приемной комиссии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✓ Балансировка стратегии (не менее 2 Safety)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✓ Страховка от потери года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92024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000" b="1">
                <a:solidFill>
                  <a:srgbClr val="2563EB"/>
                </a:solidFill>
                <a:latin typeface="Arial"/>
              </a:defRPr>
            </a:pPr>
            <a:r>
              <a:t>ПОШАГОВЫЙ РОАДМАП</a:t>
            </a:r>
          </a:p>
          <a:p>
            <a:pPr>
              <a:spcBef>
                <a:spcPts val="600"/>
              </a:spcBef>
              <a:defRPr sz="1700" b="1">
                <a:solidFill>
                  <a:srgbClr val="0F172A"/>
                </a:solidFill>
                <a:latin typeface="Arial"/>
              </a:defRPr>
            </a:pPr>
            <a:r>
              <a:t>Четкий план до дедлайна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Автоматическое построение графика подготовки: 3 волны подачи заявок (Early, Regular, Late), чек-лист документов, грантовая статистика и генератор каркаса эссе.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✓ Сроки ранней и поздней волн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✓ Конкурс на 1 грантовое место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✓ AI-помощник мотивационного письма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ВОЗМОЖНОСТИ ПЛАТФОРМЫ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Ключевой функционал AdmitRoute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Комплекс инструментов, покрывающий весь путь абитуриента от выбора специальности до отправки документов.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000" b="1">
                <a:solidFill>
                  <a:srgbClr val="7C3AED"/>
                </a:solidFill>
                <a:latin typeface="Arial"/>
              </a:defRPr>
            </a:pPr>
            <a:r>
              <a:t>GOOGLE GEMINI 3.6 FLASH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  <a:latin typeface="Arial"/>
              </a:defRPr>
            </a:pPr>
            <a:r>
              <a:t>Живой поиск любого вуза мира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Интеграция с передовым ИИ: пользователь может ввести название любого университета планеты (Тренто, Bocconi, Waterloo, КарГУ) и мгновенно получить карточку с требованиями, дедлайнами и шансами.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920240"/>
            <a:ext cx="51206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000" b="1">
                <a:solidFill>
                  <a:srgbClr val="2563EB"/>
                </a:solidFill>
                <a:latin typeface="Arial"/>
              </a:defRPr>
            </a:pPr>
            <a:r>
              <a:t>ВЕРИФИЦИРОВАННАЯ БАЗА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  <a:latin typeface="Arial"/>
              </a:defRPr>
            </a:pPr>
            <a:r>
              <a:t>36+ детальных программ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Тщательно проработанная база: ведущие вузы Казахстана (NU, КБТУ, AITU, SDU), Европы (Италия DSU, Германия TUM, Венгрия Stipendium), Азии (KAIST, NUS) и США.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1206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000" b="1">
                <a:solidFill>
                  <a:srgbClr val="2563EB"/>
                </a:solidFill>
                <a:latin typeface="Arial"/>
              </a:defRPr>
            </a:pPr>
            <a:r>
              <a:t>ГРАНТОВАЯ АНАЛИТИКА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  <a:latin typeface="Arial"/>
              </a:defRPr>
            </a:pPr>
            <a:r>
              <a:t>3 волны дедлайнов и статистика грантов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Каждая программа разбита на Early, Regular и Late волны с указанием прошлогоднего конкурса, проходного балла и вероятности получить полное финансирование (стипендию).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114800"/>
            <a:ext cx="51206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000" b="1">
                <a:solidFill>
                  <a:srgbClr val="2563EB"/>
                </a:solidFill>
                <a:latin typeface="Arial"/>
              </a:defRPr>
            </a:pPr>
            <a:r>
              <a:t>ПОРТФОЛИО И ЭССЕ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  <a:latin typeface="Arial"/>
              </a:defRPr>
            </a:pPr>
            <a:r>
              <a:t>AI-анализ активностей и каркас эссе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Анализ внешкольных проектов, олимпиад и волонтерства на реалистичность, а также генерация персонализированного каркаса Personal Statement без шаблонных клише.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ПОЛЬЗОВАТЕЛЬСКИЙ ПУТЬ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3 простых шага к осознанному поступлению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От первого заполнения профиля до готового пакета документов за 5 минут.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300" b="1">
                <a:solidFill>
                  <a:srgbClr val="2563EB"/>
                </a:solidFill>
                <a:latin typeface="Arial"/>
              </a:defRPr>
            </a:pPr>
            <a:r>
              <a:t>ШАГ 1</a:t>
            </a:r>
          </a:p>
          <a:p>
            <a:pPr>
              <a:spcBef>
                <a:spcPts val="800"/>
              </a:spcBef>
              <a:defRPr sz="1800" b="1">
                <a:solidFill>
                  <a:srgbClr val="0F172A"/>
                </a:solidFill>
                <a:latin typeface="Arial"/>
              </a:defRPr>
            </a:pPr>
            <a:r>
              <a:t>Ввод профиля абитуриента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Ученик указывает класс, специальность, GPA, баллы IELTS/SAT/ЕНТ, бюджет и текстовое описание своих внеучебных активностей и достижений.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3832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300" b="1">
                <a:solidFill>
                  <a:srgbClr val="2563EB"/>
                </a:solidFill>
                <a:latin typeface="Arial"/>
              </a:defRPr>
            </a:pPr>
            <a:r>
              <a:t>ШАГ 2</a:t>
            </a:r>
          </a:p>
          <a:p>
            <a:pPr>
              <a:spcBef>
                <a:spcPts val="800"/>
              </a:spcBef>
              <a:defRPr sz="1800" b="1">
                <a:solidFill>
                  <a:srgbClr val="0F172A"/>
                </a:solidFill>
                <a:latin typeface="Arial"/>
              </a:defRPr>
            </a:pPr>
            <a:r>
              <a:t>Анализ и расчет шансов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Алгоритм сопоставляет данные с базой программ, отфильтровывает ложные надежды, выделяет риски отказа и группирует вузы по категориям соответствия.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3832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300" b="1">
                <a:solidFill>
                  <a:srgbClr val="2563EB"/>
                </a:solidFill>
                <a:latin typeface="Arial"/>
              </a:defRPr>
            </a:pPr>
            <a:r>
              <a:t>ШАГ 3</a:t>
            </a:r>
          </a:p>
          <a:p>
            <a:pPr>
              <a:spcBef>
                <a:spcPts val="800"/>
              </a:spcBef>
              <a:defRPr sz="1800" b="1">
                <a:solidFill>
                  <a:srgbClr val="0F172A"/>
                </a:solidFill>
                <a:latin typeface="Arial"/>
              </a:defRPr>
            </a:pPr>
            <a:r>
              <a:t>Индивидуальный роадмап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Абитуриент получает персональный таймлайн с дедлайнами, пошаговый чек-лист документов и готовый каркас мотивационного эссе под выбранный вуз.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РЫНОЧНЫЙ ПОТЕНЦИАЛ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Объем рынка и растущий спрос на зарубежное образование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Казахстан и Центральная Азия демонстрируют рекордный интерес к высшему образованию и грантам.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3200" b="1">
                <a:solidFill>
                  <a:srgbClr val="2563EB"/>
                </a:solidFill>
                <a:latin typeface="Arial"/>
              </a:defRPr>
            </a:pPr>
            <a:r>
              <a:t>180 000+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Arial"/>
              </a:defRPr>
            </a:pPr>
            <a:r>
              <a:t>Выпускников школ в Казахстане ежегодно (TAM)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Ежегодный растущий поток абитуриентов, выбирающих высшее образование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920240"/>
            <a:ext cx="51206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3200" b="1">
                <a:solidFill>
                  <a:srgbClr val="2563EB"/>
                </a:solidFill>
                <a:latin typeface="Arial"/>
              </a:defRPr>
            </a:pPr>
            <a:r>
              <a:t>35 000+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Arial"/>
              </a:defRPr>
            </a:pPr>
            <a:r>
              <a:t>Абитуриентов, поступающих за рубеж (SAM)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Высокий спрос на обучение в Европе, США, Турции, Азии и странах СНГ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1206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3200" b="1">
                <a:solidFill>
                  <a:srgbClr val="2563EB"/>
                </a:solidFill>
                <a:latin typeface="Arial"/>
              </a:defRPr>
            </a:pPr>
            <a:r>
              <a:t>75 000+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Arial"/>
              </a:defRPr>
            </a:pPr>
            <a:r>
              <a:t>Государственных образовательных грантов в РК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Острая конкуренция за квоты требует точного расчета шансов по проходным баллам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114800"/>
            <a:ext cx="51206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3200" b="1">
                <a:solidFill>
                  <a:srgbClr val="2563EB"/>
                </a:solidFill>
                <a:latin typeface="Arial"/>
              </a:defRPr>
            </a:pPr>
            <a:r>
              <a:t>+38%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Arial"/>
              </a:defRPr>
            </a:pPr>
            <a:r>
              <a:t>Ежегодный рост запросов на стипендии (SOM)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Стремительный рост интереса к грантовым программам: DSU, Stipendium, CSC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БИЗНЕС-МОДЕЛЬ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Монетизация: B2C подписка и B2B партнерства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Сбалансированная модель с низким порогом входа и высокой ценностью для клиентов.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000" b="1">
                <a:solidFill>
                  <a:srgbClr val="64748B"/>
                </a:solidFill>
                <a:latin typeface="Arial"/>
              </a:defRPr>
            </a:pPr>
            <a:r>
              <a:t>БЕСПЛАТНО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  <a:latin typeface="Arial"/>
              </a:defRPr>
            </a:pPr>
            <a:r>
              <a:t>0 ₸</a:t>
            </a:r>
          </a:p>
          <a:p>
            <a:pPr>
              <a:spcBef>
                <a:spcPts val="200"/>
              </a:spcBef>
              <a:defRPr sz="1500" b="1">
                <a:solidFill>
                  <a:srgbClr val="0F172A"/>
                </a:solidFill>
                <a:latin typeface="Arial"/>
              </a:defRPr>
            </a:pPr>
            <a:r>
              <a:t>Freemium Базовый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Охват максимальной аудитории и органический рост: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Расчет шансов в топ-36 университетов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Анти-иллюзорная классификация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Доступ к 3 волнам дедлайнов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Базовый роадмап поступления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000" b="1">
                <a:solidFill>
                  <a:srgbClr val="2563EB"/>
                </a:solidFill>
                <a:latin typeface="Arial"/>
              </a:defRPr>
            </a:pPr>
            <a:r>
              <a:t>ПОПУЛЯРНЫЙ PRO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  <a:latin typeface="Arial"/>
              </a:defRPr>
            </a:pPr>
            <a:r>
              <a:t>4 990 ₸ / мес</a:t>
            </a:r>
          </a:p>
          <a:p>
            <a:pPr>
              <a:spcBef>
                <a:spcPts val="200"/>
              </a:spcBef>
              <a:defRPr sz="1500" b="1">
                <a:solidFill>
                  <a:srgbClr val="0F172A"/>
                </a:solidFill>
                <a:latin typeface="Arial"/>
              </a:defRPr>
            </a:pPr>
            <a:r>
              <a:t>AdmitRoute PRO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Для абитуриентов, нацеленных на грант и зарубеж: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Безлимитный AI-поиск любого вуза мира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Генератор каркаса эссе под требования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AI-аудит внеучебного портфолио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Персональные пуш-напоминания дедлайнов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92024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000" b="1">
                <a:solidFill>
                  <a:srgbClr val="64748B"/>
                </a:solidFill>
                <a:latin typeface="Arial"/>
              </a:defRPr>
            </a:pPr>
            <a:r>
              <a:t>B2B ПАРТНЕРСТВО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  <a:latin typeface="Arial"/>
              </a:defRPr>
            </a:pPr>
            <a:r>
              <a:t>Индивидуально</a:t>
            </a:r>
          </a:p>
          <a:p>
            <a:pPr>
              <a:spcBef>
                <a:spcPts val="200"/>
              </a:spcBef>
              <a:defRPr sz="1500" b="1">
                <a:solidFill>
                  <a:srgbClr val="0F172A"/>
                </a:solidFill>
                <a:latin typeface="Arial"/>
              </a:defRPr>
            </a:pPr>
            <a:r>
              <a:t>Для школ и центров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Инструмент для образовательных центров и языковых школ: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Кабинет консультанта / профориентатора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Отслеживание прогресса учеников класса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White-label отчеты для родителей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API-доступ к аналитической базе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ПЛАНЫ РАЗВИТИЯ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Дорожная карта проекта AdmitRoute (2026)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Четкий пошаговый план масштабирования продукта и аудитории.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100" b="1">
                <a:solidFill>
                  <a:srgbClr val="10B981"/>
                </a:solidFill>
                <a:latin typeface="Arial"/>
              </a:defRPr>
            </a:pPr>
            <a:r>
              <a:t>Q1 2026 (РЕАЛИЗОВАНО)</a:t>
            </a:r>
          </a:p>
          <a:p>
            <a:pPr>
              <a:spcBef>
                <a:spcPts val="600"/>
              </a:spcBef>
              <a:defRPr sz="1700" b="1">
                <a:solidFill>
                  <a:srgbClr val="0F172A"/>
                </a:solidFill>
                <a:latin typeface="Arial"/>
              </a:defRPr>
            </a:pPr>
            <a:r>
              <a:t>MVP и AI-движок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Arial"/>
              </a:defRPr>
            </a:pPr>
            <a:r>
              <a:t>✓ Интерактивная веб-платформа (React/Vite)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Arial"/>
              </a:defRPr>
            </a:pPr>
            <a:r>
              <a:t>✓ База 36+ детальных программ РК и мира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Arial"/>
              </a:defRPr>
            </a:pPr>
            <a:r>
              <a:t>✓ Интеграция с Google Gemini 3.6 Flash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Arial"/>
              </a:defRPr>
            </a:pPr>
            <a:r>
              <a:t>✓ Алгоритм «Анти-иллюзия» и 3 волны дедлайнов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100" b="1">
                <a:solidFill>
                  <a:srgbClr val="2563EB"/>
                </a:solidFill>
                <a:latin typeface="Arial"/>
              </a:defRPr>
            </a:pPr>
            <a:r>
              <a:t>Q2 2026</a:t>
            </a:r>
          </a:p>
          <a:p>
            <a:pPr>
              <a:spcBef>
                <a:spcPts val="600"/>
              </a:spcBef>
              <a:defRPr sz="1700" b="1">
                <a:solidFill>
                  <a:srgbClr val="0F172A"/>
                </a:solidFill>
                <a:latin typeface="Arial"/>
              </a:defRPr>
            </a:pPr>
            <a:r>
              <a:t>Мобильность и трекинг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→ Адаптивное PWA / Мобильное приложение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→ Telegram-бот с уведомлениями о дедлайнах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→ Расширение базы до 100+ университетов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→ Кабинет загрузки и хранения документов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92024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100" b="1">
                <a:solidFill>
                  <a:srgbClr val="2563EB"/>
                </a:solidFill>
                <a:latin typeface="Arial"/>
              </a:defRPr>
            </a:pPr>
            <a:r>
              <a:t>Q3-Q4 2026</a:t>
            </a:r>
          </a:p>
          <a:p>
            <a:pPr>
              <a:spcBef>
                <a:spcPts val="600"/>
              </a:spcBef>
              <a:defRPr sz="1700" b="1">
                <a:solidFill>
                  <a:srgbClr val="0F172A"/>
                </a:solidFill>
                <a:latin typeface="Arial"/>
              </a:defRPr>
            </a:pPr>
            <a:r>
              <a:t>B2B и масштабирование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→ B2B-панель для школ и репетиторов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→ AI-тренажер собеседований приемной комиссии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→ Выход на рынки Узбекистана и Кыргызстана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→ Прямая интеграция с подачей заявок в вузы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dmitroute_line_logo_178954910489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914400"/>
            <a:ext cx="1463040" cy="146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4688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Поступление без стресса и иллюзий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  <a:latin typeface="Arial"/>
              </a:defRPr>
            </a:pPr>
            <a:r>
              <a:t>AdmitRoute помогает каждому абитуриенту найти свой идеальный университет и грант на основе реальных данных, а не пустых обещаний.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663440"/>
            <a:ext cx="338328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ДЕМО ВЕБ-САЙТА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http://localhost:5173/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4663440"/>
            <a:ext cx="338328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ТЕХНОЛОГИЧЕСКИЙ СТЕК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React 19, Vite, Gemini 3.6 Flash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4663440"/>
            <a:ext cx="338328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ПРОЕКТ И КОД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C:\Users\Адильхан\Documents\admitroute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