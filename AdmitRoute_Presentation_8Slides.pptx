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dmitroute_line_logo_178954910489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822960"/>
            <a:ext cx="1645920" cy="164592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822960" y="2743200"/>
            <a:ext cx="3108960" cy="384048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38BDF8"/>
                </a:solidFill>
                <a:latin typeface="Arial"/>
              </a:defRPr>
            </a:pPr>
            <a:r>
              <a:t>LOCUS HACKATHON 2026 • КЕЙС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29184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000" b="1">
                <a:solidFill>
                  <a:srgbClr val="FFFFFF"/>
                </a:solidFill>
                <a:latin typeface="Arial"/>
              </a:defRPr>
            </a:pPr>
            <a:r>
              <a:t>AdmitRoute</a:t>
            </a:r>
          </a:p>
          <a:p>
            <a:pPr>
              <a:spcBef>
                <a:spcPts val="600"/>
              </a:spcBef>
              <a:defRPr sz="1800">
                <a:solidFill>
                  <a:srgbClr val="94A3B8"/>
                </a:solidFill>
                <a:latin typeface="Arial"/>
              </a:defRPr>
            </a:pPr>
            <a:r>
              <a:t>Умная AI-платформа для честного поступления в университеты Казахстана и мира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02920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E2E8F0"/>
                </a:solidFill>
                <a:latin typeface="Arial"/>
              </a:defRPr>
            </a:pPr>
            <a:r>
              <a:t>✓ Алгоритм «Анти-иллюзия»: защита от ложных надежд и отказа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0" y="502920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E2E8F0"/>
                </a:solidFill>
                <a:latin typeface="Arial"/>
              </a:defRPr>
            </a:pPr>
            <a:r>
              <a:t>✓ 36+ детальных программ + живой AI-поиск любого вуза планеты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66928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E2E8F0"/>
                </a:solidFill>
                <a:latin typeface="Arial"/>
              </a:defRPr>
            </a:pPr>
            <a:r>
              <a:t>✓ Персональный роадмап дедлайнов, экспорт в iCal и Telegram-бот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0" y="566928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E2E8F0"/>
                </a:solidFill>
                <a:latin typeface="Arial"/>
              </a:defRPr>
            </a:pPr>
            <a:r>
              <a:t>✓ Доступность для каждой семьи: 4 990 ₸ вместо $2,000 в агентствах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Arial"/>
              </a:defRPr>
            </a:pPr>
            <a:r>
              <a:t>1. ПРОБЛЕМА РЫНКА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С чем сталкивается абитуриент и его семья?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61872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64748B"/>
                </a:solidFill>
                <a:latin typeface="Arial"/>
              </a:defRPr>
            </a:pPr>
            <a:r>
              <a:t>Поступление в университет сопряжено с непрозрачностью, огромными финансовыми затратами и риском потери года.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338328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defRPr sz="2600" b="1">
                <a:solidFill>
                  <a:srgbClr val="E11D48"/>
                </a:solidFill>
                <a:latin typeface="Arial"/>
              </a:defRPr>
            </a:pPr>
            <a:r>
              <a:t>01</a:t>
            </a:r>
          </a:p>
          <a:p>
            <a:pPr>
              <a:spcBef>
                <a:spcPts val="600"/>
              </a:spcBef>
              <a:defRPr sz="1600" b="1">
                <a:solidFill>
                  <a:srgbClr val="0F172A"/>
                </a:solidFill>
                <a:latin typeface="Arial"/>
              </a:defRPr>
            </a:pPr>
            <a:r>
              <a:t>Информационный хаос</a:t>
            </a:r>
          </a:p>
          <a:p>
            <a:pPr>
              <a:spcBef>
                <a:spcPts val="800"/>
              </a:spcBef>
              <a:defRPr sz="1100">
                <a:solidFill>
                  <a:srgbClr val="64748B"/>
                </a:solidFill>
                <a:latin typeface="Arial"/>
              </a:defRPr>
            </a:pPr>
            <a:r>
              <a:t>Сотни сайтов вузов на разных языках, скрытые требования, разрозненные даты ранней и поздней волн подачи. Поиск отнимает до 120 часов рутинного времени.</a:t>
            </a:r>
          </a:p>
          <a:p>
            <a:pPr>
              <a:spcBef>
                <a:spcPts val="2400"/>
              </a:spcBef>
              <a:defRPr sz="1800" b="1">
                <a:solidFill>
                  <a:srgbClr val="0F172A"/>
                </a:solidFill>
                <a:latin typeface="Arial"/>
              </a:defRPr>
            </a:pPr>
            <a:r>
              <a:t>120+ часов</a:t>
            </a:r>
          </a:p>
          <a:p>
            <a:pPr>
              <a:defRPr sz="1000">
                <a:solidFill>
                  <a:srgbClr val="64748B"/>
                </a:solidFill>
                <a:latin typeface="Arial"/>
              </a:defRPr>
            </a:pPr>
            <a:r>
              <a:t>тратит семья на ручной сбор информации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783080"/>
            <a:ext cx="338328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defRPr sz="2600" b="1">
                <a:solidFill>
                  <a:srgbClr val="E11D48"/>
                </a:solidFill>
                <a:latin typeface="Arial"/>
              </a:defRPr>
            </a:pPr>
            <a:r>
              <a:t>02</a:t>
            </a:r>
          </a:p>
          <a:p>
            <a:pPr>
              <a:spcBef>
                <a:spcPts val="600"/>
              </a:spcBef>
              <a:defRPr sz="1600" b="1">
                <a:solidFill>
                  <a:srgbClr val="0F172A"/>
                </a:solidFill>
                <a:latin typeface="Arial"/>
              </a:defRPr>
            </a:pPr>
            <a:r>
              <a:t>Дорогие агентства</a:t>
            </a:r>
          </a:p>
          <a:p>
            <a:pPr>
              <a:spcBef>
                <a:spcPts val="800"/>
              </a:spcBef>
              <a:defRPr sz="1100">
                <a:solidFill>
                  <a:srgbClr val="64748B"/>
                </a:solidFill>
                <a:latin typeface="Arial"/>
              </a:defRPr>
            </a:pPr>
            <a:r>
              <a:t>Консалтинговые компании берут от $1,500 до $4,000 за подачу документов, часто продвигая коммерческие платные вузы-партнеры без гарантий гранта.</a:t>
            </a:r>
          </a:p>
          <a:p>
            <a:pPr>
              <a:spcBef>
                <a:spcPts val="2400"/>
              </a:spcBef>
              <a:defRPr sz="1800" b="1">
                <a:solidFill>
                  <a:srgbClr val="0F172A"/>
                </a:solidFill>
                <a:latin typeface="Arial"/>
              </a:defRPr>
            </a:pPr>
            <a:r>
              <a:t>$1,500 – $4,000</a:t>
            </a:r>
          </a:p>
          <a:p>
            <a:pPr>
              <a:defRPr sz="1000">
                <a:solidFill>
                  <a:srgbClr val="64748B"/>
                </a:solidFill>
                <a:latin typeface="Arial"/>
              </a:defRPr>
            </a:pPr>
            <a:r>
              <a:t>средний чек консалтинга в Казахстане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783080"/>
            <a:ext cx="338328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defRPr sz="2600" b="1">
                <a:solidFill>
                  <a:srgbClr val="E11D48"/>
                </a:solidFill>
                <a:latin typeface="Arial"/>
              </a:defRPr>
            </a:pPr>
            <a:r>
              <a:t>03</a:t>
            </a:r>
          </a:p>
          <a:p>
            <a:pPr>
              <a:spcBef>
                <a:spcPts val="600"/>
              </a:spcBef>
              <a:defRPr sz="1600" b="1">
                <a:solidFill>
                  <a:srgbClr val="0F172A"/>
                </a:solidFill>
                <a:latin typeface="Arial"/>
              </a:defRPr>
            </a:pPr>
            <a:r>
              <a:t>Ложные надежды и отказ</a:t>
            </a:r>
          </a:p>
          <a:p>
            <a:pPr>
              <a:spcBef>
                <a:spcPts val="800"/>
              </a:spcBef>
              <a:defRPr sz="1100">
                <a:solidFill>
                  <a:srgbClr val="64748B"/>
                </a:solidFill>
                <a:latin typeface="Arial"/>
              </a:defRPr>
            </a:pPr>
            <a:r>
              <a:t>Без объективной аналитики абитуриенты подают только в недосягаемые Reach-вузы и при отказе теряют целый учебный год, оставаясь без альтернатив.</a:t>
            </a:r>
          </a:p>
          <a:p>
            <a:pPr>
              <a:spcBef>
                <a:spcPts val="2400"/>
              </a:spcBef>
              <a:defRPr sz="1800" b="1">
                <a:solidFill>
                  <a:srgbClr val="0F172A"/>
                </a:solidFill>
                <a:latin typeface="Arial"/>
              </a:defRPr>
            </a:pPr>
            <a:r>
              <a:t>до 45% отказов</a:t>
            </a:r>
          </a:p>
          <a:p>
            <a:pPr>
              <a:defRPr sz="1000">
                <a:solidFill>
                  <a:srgbClr val="64748B"/>
                </a:solidFill>
                <a:latin typeface="Arial"/>
              </a:defRPr>
            </a:pPr>
            <a:r>
              <a:t>из-за несбалансированного списка вузов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Arial"/>
              </a:defRPr>
            </a:pPr>
            <a:r>
              <a:t>2. НАШЕ РЕШЕНИЕ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AdmitRoute: Персональный AI-навигатор поступления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61872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64748B"/>
                </a:solidFill>
                <a:latin typeface="Arial"/>
              </a:defRPr>
            </a:pPr>
            <a:r>
              <a:t>Объективная математическая оценка шансов, строгая защита от иллюзий и персональный пошаговый маршрут.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338328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defRPr sz="1000" b="1">
                <a:solidFill>
                  <a:srgbClr val="2563EB"/>
                </a:solidFill>
                <a:latin typeface="Arial"/>
              </a:defRPr>
            </a:pPr>
            <a:r>
              <a:t>МАТЕМАТИЧЕСКИЙ СКОРИНГ</a:t>
            </a:r>
          </a:p>
          <a:p>
            <a:pPr>
              <a:spcBef>
                <a:spcPts val="600"/>
              </a:spcBef>
              <a:defRPr sz="1600" b="1">
                <a:solidFill>
                  <a:srgbClr val="0F172A"/>
                </a:solidFill>
                <a:latin typeface="Arial"/>
              </a:defRPr>
            </a:pPr>
            <a:r>
              <a:t>Прозрачный расчет шансов</a:t>
            </a:r>
          </a:p>
          <a:p>
            <a:pPr>
              <a:spcBef>
                <a:spcPts val="800"/>
              </a:spcBef>
              <a:defRPr sz="1100">
                <a:solidFill>
                  <a:srgbClr val="64748B"/>
                </a:solidFill>
                <a:latin typeface="Arial"/>
              </a:defRPr>
            </a:pPr>
            <a:r>
              <a:t>Алгоритм сопоставляет GPA, IELTS/TOEFL, SAT/ЕНТ и активности с реальными требованиями вузов. Категоризация: Safety (надежные), Target (целевые), Reach (сложные), Unlikely (маловероятные).</a:t>
            </a:r>
          </a:p>
          <a:p>
            <a:pPr>
              <a:spcBef>
                <a:spcPts val="600"/>
              </a:spcBef>
              <a:defRPr sz="1000" b="1">
                <a:solidFill>
                  <a:srgbClr val="0F172A"/>
                </a:solidFill>
                <a:latin typeface="Arial"/>
              </a:defRPr>
            </a:pPr>
            <a:r>
              <a:t>✓ Точный расчет шансов в %</a:t>
            </a:r>
          </a:p>
          <a:p>
            <a:pPr>
              <a:spcBef>
                <a:spcPts val="600"/>
              </a:spcBef>
              <a:defRPr sz="1000" b="1">
                <a:solidFill>
                  <a:srgbClr val="0F172A"/>
                </a:solidFill>
                <a:latin typeface="Arial"/>
              </a:defRPr>
            </a:pPr>
            <a:r>
              <a:t>✓ Выявление академических пробелов</a:t>
            </a:r>
          </a:p>
          <a:p>
            <a:pPr>
              <a:spcBef>
                <a:spcPts val="600"/>
              </a:spcBef>
              <a:defRPr sz="1000" b="1">
                <a:solidFill>
                  <a:srgbClr val="0F172A"/>
                </a:solidFill>
                <a:latin typeface="Arial"/>
              </a:defRPr>
            </a:pPr>
            <a:r>
              <a:t>✓ Качественное объяснение «Почему подходит»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783080"/>
            <a:ext cx="338328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defRPr sz="1000" b="1">
                <a:solidFill>
                  <a:srgbClr val="2563EB"/>
                </a:solidFill>
                <a:latin typeface="Arial"/>
              </a:defRPr>
            </a:pPr>
            <a:r>
              <a:t>АНТИ-ИЛЛЮЗИЯ</a:t>
            </a:r>
          </a:p>
          <a:p>
            <a:pPr>
              <a:spcBef>
                <a:spcPts val="600"/>
              </a:spcBef>
              <a:defRPr sz="1600" b="1">
                <a:solidFill>
                  <a:srgbClr val="0F172A"/>
                </a:solidFill>
                <a:latin typeface="Arial"/>
              </a:defRPr>
            </a:pPr>
            <a:r>
              <a:t>Защита от риска отказа</a:t>
            </a:r>
          </a:p>
          <a:p>
            <a:pPr>
              <a:spcBef>
                <a:spcPts val="800"/>
              </a:spcBef>
              <a:defRPr sz="1100">
                <a:solidFill>
                  <a:srgbClr val="64748B"/>
                </a:solidFill>
                <a:latin typeface="Arial"/>
              </a:defRPr>
            </a:pPr>
            <a:r>
              <a:t>Система не дает ложных надежд: если профиль слаб для элитной программы, AdmitRoute прямо указывает на низкую вероятность (&lt;12%) и предлагает гарантированные альтернативы со стипендиями.</a:t>
            </a:r>
          </a:p>
          <a:p>
            <a:pPr>
              <a:spcBef>
                <a:spcPts val="600"/>
              </a:spcBef>
              <a:defRPr sz="1000" b="1">
                <a:solidFill>
                  <a:srgbClr val="0F172A"/>
                </a:solidFill>
                <a:latin typeface="Arial"/>
              </a:defRPr>
            </a:pPr>
            <a:r>
              <a:t>✓ Предупреждения приемной комиссии</a:t>
            </a:r>
          </a:p>
          <a:p>
            <a:pPr>
              <a:spcBef>
                <a:spcPts val="600"/>
              </a:spcBef>
              <a:defRPr sz="1000" b="1">
                <a:solidFill>
                  <a:srgbClr val="0F172A"/>
                </a:solidFill>
                <a:latin typeface="Arial"/>
              </a:defRPr>
            </a:pPr>
            <a:r>
              <a:t>✓ Обязательная балансировка Safety-вузов</a:t>
            </a:r>
          </a:p>
          <a:p>
            <a:pPr>
              <a:spcBef>
                <a:spcPts val="600"/>
              </a:spcBef>
              <a:defRPr sz="1000" b="1">
                <a:solidFill>
                  <a:srgbClr val="0F172A"/>
                </a:solidFill>
                <a:latin typeface="Arial"/>
              </a:defRPr>
            </a:pPr>
            <a:r>
              <a:t>✓ Страховка от потери года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783080"/>
            <a:ext cx="338328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defRPr sz="1000" b="1">
                <a:solidFill>
                  <a:srgbClr val="2563EB"/>
                </a:solidFill>
                <a:latin typeface="Arial"/>
              </a:defRPr>
            </a:pPr>
            <a:r>
              <a:t>ПОШАГОВЫЙ РОАДМАП</a:t>
            </a:r>
          </a:p>
          <a:p>
            <a:pPr>
              <a:spcBef>
                <a:spcPts val="600"/>
              </a:spcBef>
              <a:defRPr sz="1600" b="1">
                <a:solidFill>
                  <a:srgbClr val="0F172A"/>
                </a:solidFill>
                <a:latin typeface="Arial"/>
              </a:defRPr>
            </a:pPr>
            <a:r>
              <a:t>План действий до дедлайна</a:t>
            </a:r>
          </a:p>
          <a:p>
            <a:pPr>
              <a:spcBef>
                <a:spcPts val="800"/>
              </a:spcBef>
              <a:defRPr sz="1100">
                <a:solidFill>
                  <a:srgbClr val="64748B"/>
                </a:solidFill>
                <a:latin typeface="Arial"/>
              </a:defRPr>
            </a:pPr>
            <a:r>
              <a:t>Формирование персонального графика с 3 волнами подачи (ранняя, регулярная, поздняя), статистики грантов прошлого года и генератора каркаса мотивационного письма (Personal Statement).</a:t>
            </a:r>
          </a:p>
          <a:p>
            <a:pPr>
              <a:spcBef>
                <a:spcPts val="600"/>
              </a:spcBef>
              <a:defRPr sz="1000" b="1">
                <a:solidFill>
                  <a:srgbClr val="0F172A"/>
                </a:solidFill>
                <a:latin typeface="Arial"/>
              </a:defRPr>
            </a:pPr>
            <a:r>
              <a:t>✓ Сроки Early / Regular / Late</a:t>
            </a:r>
          </a:p>
          <a:p>
            <a:pPr>
              <a:spcBef>
                <a:spcPts val="600"/>
              </a:spcBef>
              <a:defRPr sz="1000" b="1">
                <a:solidFill>
                  <a:srgbClr val="0F172A"/>
                </a:solidFill>
                <a:latin typeface="Arial"/>
              </a:defRPr>
            </a:pPr>
            <a:r>
              <a:t>✓ Прошлогодний конкурс на место</a:t>
            </a:r>
          </a:p>
          <a:p>
            <a:pPr>
              <a:spcBef>
                <a:spcPts val="600"/>
              </a:spcBef>
              <a:defRPr sz="1000" b="1">
                <a:solidFill>
                  <a:srgbClr val="0F172A"/>
                </a:solidFill>
                <a:latin typeface="Arial"/>
              </a:defRPr>
            </a:pPr>
            <a:r>
              <a:t>✓ Индивидуальный чек-лист документов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Arial"/>
              </a:defRPr>
            </a:pPr>
            <a:r>
              <a:t>3. ЦЕЛЕВАЯ АУДИТОРИЯ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Кто наши пользователи и кто принимает решение?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61872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64748B"/>
                </a:solidFill>
                <a:latin typeface="Arial"/>
              </a:defRPr>
            </a:pPr>
            <a:r>
              <a:t>Четкая сегментация аудитории с глубоким пониманием болей каждого сегмента и ценности AdmitRoute.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338328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228600"/>
          <a:lstStyle/>
          <a:p>
            <a:pPr algn="ctr">
              <a:defRPr sz="950" b="1">
                <a:solidFill>
                  <a:srgbClr val="2563EB"/>
                </a:solidFill>
                <a:latin typeface="Arial"/>
              </a:defRPr>
            </a:pPr>
            <a:r>
              <a:t>B2C • КОНЕЧНЫЙ ПОЛЬЗОВАТЕЛЬ</a:t>
            </a:r>
          </a:p>
          <a:p>
            <a:pPr>
              <a:spcBef>
                <a:spcPts val="400"/>
              </a:spcBef>
              <a:defRPr sz="1600" b="1">
                <a:solidFill>
                  <a:srgbClr val="0F172A"/>
                </a:solidFill>
                <a:latin typeface="Arial"/>
              </a:defRPr>
            </a:pPr>
            <a:r>
              <a:t>Выпускники 10–11 классов</a:t>
            </a:r>
          </a:p>
          <a:p>
            <a:pPr>
              <a:spcBef>
                <a:spcPts val="400"/>
              </a:spcBef>
              <a:defRPr sz="1050">
                <a:solidFill>
                  <a:srgbClr val="64748B"/>
                </a:solidFill>
                <a:latin typeface="Arial"/>
              </a:defRPr>
            </a:pPr>
            <a:r>
              <a:t>Учащиеся школ, лицеев, НИШ и БИЛ, нацеленные на поступление на грант в Казахстане, Европе, Азии или США.</a:t>
            </a:r>
          </a:p>
          <a:p>
            <a:pPr>
              <a:spcBef>
                <a:spcPts val="1000"/>
              </a:spcBef>
              <a:defRPr sz="1000" b="1">
                <a:solidFill>
                  <a:srgbClr val="E11D48"/>
                </a:solidFill>
                <a:latin typeface="Arial"/>
              </a:defRPr>
            </a:pPr>
            <a:r>
              <a:t>КЛЮЧЕВЫЕ БОЛИ:</a:t>
            </a:r>
          </a:p>
          <a:p>
            <a:pPr>
              <a:spcBef>
                <a:spcPts val="200"/>
              </a:spcBef>
              <a:defRPr sz="950">
                <a:solidFill>
                  <a:srgbClr val="475569"/>
                </a:solidFill>
                <a:latin typeface="Arial"/>
              </a:defRPr>
            </a:pPr>
            <a:r>
              <a:t>✕ Информационный хаос (120+ часов на сайты)</a:t>
            </a:r>
          </a:p>
          <a:p>
            <a:pPr>
              <a:spcBef>
                <a:spcPts val="200"/>
              </a:spcBef>
              <a:defRPr sz="950">
                <a:solidFill>
                  <a:srgbClr val="475569"/>
                </a:solidFill>
                <a:latin typeface="Arial"/>
              </a:defRPr>
            </a:pPr>
            <a:r>
              <a:t>✕ Непонимание реальных шансов на грант</a:t>
            </a:r>
          </a:p>
          <a:p>
            <a:pPr>
              <a:spcBef>
                <a:spcPts val="200"/>
              </a:spcBef>
              <a:defRPr sz="950">
                <a:solidFill>
                  <a:srgbClr val="475569"/>
                </a:solidFill>
                <a:latin typeface="Arial"/>
              </a:defRPr>
            </a:pPr>
            <a:r>
              <a:t>✕ Страх провалить дедлайны и потерять год</a:t>
            </a:r>
          </a:p>
          <a:p>
            <a:pPr>
              <a:spcBef>
                <a:spcPts val="1000"/>
              </a:spcBef>
              <a:defRPr sz="1000" b="1">
                <a:solidFill>
                  <a:srgbClr val="10B981"/>
                </a:solidFill>
                <a:latin typeface="Arial"/>
              </a:defRPr>
            </a:pPr>
            <a:r>
              <a:t>ЦЕННОСТЬ ADMITROUTE:</a:t>
            </a:r>
          </a:p>
          <a:p>
            <a:pPr>
              <a:spcBef>
                <a:spcPts val="200"/>
              </a:spcBef>
              <a:defRPr sz="950" b="1">
                <a:solidFill>
                  <a:srgbClr val="0F172A"/>
                </a:solidFill>
                <a:latin typeface="Arial"/>
              </a:defRPr>
            </a:pPr>
            <a:r>
              <a:t>✓ Точный расчет шансов в % без иллюзий</a:t>
            </a:r>
          </a:p>
          <a:p>
            <a:pPr>
              <a:spcBef>
                <a:spcPts val="200"/>
              </a:spcBef>
              <a:defRPr sz="950" b="1">
                <a:solidFill>
                  <a:srgbClr val="0F172A"/>
                </a:solidFill>
                <a:latin typeface="Arial"/>
              </a:defRPr>
            </a:pPr>
            <a:r>
              <a:t>✓ Персональный роадмап и Safety-вузы</a:t>
            </a:r>
          </a:p>
          <a:p>
            <a:pPr>
              <a:spcBef>
                <a:spcPts val="200"/>
              </a:spcBef>
              <a:defRPr sz="950" b="1">
                <a:solidFill>
                  <a:srgbClr val="0F172A"/>
                </a:solidFill>
                <a:latin typeface="Arial"/>
              </a:defRPr>
            </a:pPr>
            <a:r>
              <a:t>✓ Бот в Telegram с напоминаниями дедлайнов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783080"/>
            <a:ext cx="338328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228600"/>
          <a:lstStyle/>
          <a:p>
            <a:pPr algn="ctr">
              <a:defRPr sz="950" b="1">
                <a:solidFill>
                  <a:srgbClr val="7C3AED"/>
                </a:solidFill>
                <a:latin typeface="Arial"/>
              </a:defRPr>
            </a:pPr>
            <a:r>
              <a:t>B2C • ПЛАТЕЛЬЩИК И СЕМЬЯ</a:t>
            </a:r>
          </a:p>
          <a:p>
            <a:pPr>
              <a:spcBef>
                <a:spcPts val="400"/>
              </a:spcBef>
              <a:defRPr sz="1600" b="1">
                <a:solidFill>
                  <a:srgbClr val="0F172A"/>
                </a:solidFill>
                <a:latin typeface="Arial"/>
              </a:defRPr>
            </a:pPr>
            <a:r>
              <a:t>Родители абитуриентов</a:t>
            </a:r>
          </a:p>
          <a:p>
            <a:pPr>
              <a:spcBef>
                <a:spcPts val="400"/>
              </a:spcBef>
              <a:defRPr sz="1050">
                <a:solidFill>
                  <a:srgbClr val="64748B"/>
                </a:solidFill>
                <a:latin typeface="Arial"/>
              </a:defRPr>
            </a:pPr>
            <a:r>
              <a:t>Принимают финансовые решения в семье, несут колоссальную эмоциональную нагрузку и оплачивают подготовку.</a:t>
            </a:r>
          </a:p>
          <a:p>
            <a:pPr>
              <a:spcBef>
                <a:spcPts val="1000"/>
              </a:spcBef>
              <a:defRPr sz="1000" b="1">
                <a:solidFill>
                  <a:srgbClr val="E11D48"/>
                </a:solidFill>
                <a:latin typeface="Arial"/>
              </a:defRPr>
            </a:pPr>
            <a:r>
              <a:t>КЛЮЧЕВЫЕ БОЛИ:</a:t>
            </a:r>
          </a:p>
          <a:p>
            <a:pPr>
              <a:spcBef>
                <a:spcPts val="200"/>
              </a:spcBef>
              <a:defRPr sz="950">
                <a:solidFill>
                  <a:srgbClr val="475569"/>
                </a:solidFill>
                <a:latin typeface="Arial"/>
              </a:defRPr>
            </a:pPr>
            <a:r>
              <a:t>✕ Огромные чеки агентств ($1,500 – $4,000)</a:t>
            </a:r>
          </a:p>
          <a:p>
            <a:pPr>
              <a:spcBef>
                <a:spcPts val="200"/>
              </a:spcBef>
              <a:defRPr sz="950">
                <a:solidFill>
                  <a:srgbClr val="475569"/>
                </a:solidFill>
                <a:latin typeface="Arial"/>
              </a:defRPr>
            </a:pPr>
            <a:r>
              <a:t>✕ Риск потери бюджета и навязывание платных вузов</a:t>
            </a:r>
          </a:p>
          <a:p>
            <a:pPr>
              <a:spcBef>
                <a:spcPts val="200"/>
              </a:spcBef>
              <a:defRPr sz="950">
                <a:solidFill>
                  <a:srgbClr val="475569"/>
                </a:solidFill>
                <a:latin typeface="Arial"/>
              </a:defRPr>
            </a:pPr>
            <a:r>
              <a:t>✕ Неведение: на каком этапе подготовка ребенка</a:t>
            </a:r>
          </a:p>
          <a:p>
            <a:pPr>
              <a:spcBef>
                <a:spcPts val="1000"/>
              </a:spcBef>
              <a:defRPr sz="1000" b="1">
                <a:solidFill>
                  <a:srgbClr val="10B981"/>
                </a:solidFill>
                <a:latin typeface="Arial"/>
              </a:defRPr>
            </a:pPr>
            <a:r>
              <a:t>ЦЕННОСТЬ ADMITROUTE:</a:t>
            </a:r>
          </a:p>
          <a:p>
            <a:pPr>
              <a:spcBef>
                <a:spcPts val="200"/>
              </a:spcBef>
              <a:defRPr sz="950" b="1">
                <a:solidFill>
                  <a:srgbClr val="0F172A"/>
                </a:solidFill>
                <a:latin typeface="Arial"/>
              </a:defRPr>
            </a:pPr>
            <a:r>
              <a:t>✓ Экономия семейного бюджета (подписка 4 990 ₸)</a:t>
            </a:r>
          </a:p>
          <a:p>
            <a:pPr>
              <a:spcBef>
                <a:spcPts val="200"/>
              </a:spcBef>
              <a:defRPr sz="950" b="1">
                <a:solidFill>
                  <a:srgbClr val="0F172A"/>
                </a:solidFill>
                <a:latin typeface="Arial"/>
              </a:defRPr>
            </a:pPr>
            <a:r>
              <a:t>✓ Шеринг-ссылка для родительского контроля</a:t>
            </a:r>
          </a:p>
          <a:p>
            <a:pPr>
              <a:spcBef>
                <a:spcPts val="200"/>
              </a:spcBef>
              <a:defRPr sz="950" b="1">
                <a:solidFill>
                  <a:srgbClr val="0F172A"/>
                </a:solidFill>
                <a:latin typeface="Arial"/>
              </a:defRPr>
            </a:pPr>
            <a:r>
              <a:t>✓ Уверенность и спокойствие за будущее ребенка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783080"/>
            <a:ext cx="338328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228600"/>
          <a:lstStyle/>
          <a:p>
            <a:pPr algn="ctr">
              <a:defRPr sz="950" b="1">
                <a:solidFill>
                  <a:srgbClr val="10B981"/>
                </a:solidFill>
                <a:latin typeface="Arial"/>
              </a:defRPr>
            </a:pPr>
            <a:r>
              <a:t>B2B • ПАРТНЕРСТВО И МАСШТАБ</a:t>
            </a:r>
          </a:p>
          <a:p>
            <a:pPr>
              <a:spcBef>
                <a:spcPts val="400"/>
              </a:spcBef>
              <a:defRPr sz="1600" b="1">
                <a:solidFill>
                  <a:srgbClr val="0F172A"/>
                </a:solidFill>
                <a:latin typeface="Arial"/>
              </a:defRPr>
            </a:pPr>
            <a:r>
              <a:t>Школы и EdTech-центры</a:t>
            </a:r>
          </a:p>
          <a:p>
            <a:pPr>
              <a:spcBef>
                <a:spcPts val="400"/>
              </a:spcBef>
              <a:defRPr sz="1050">
                <a:solidFill>
                  <a:srgbClr val="64748B"/>
                </a:solidFill>
                <a:latin typeface="Arial"/>
              </a:defRPr>
            </a:pPr>
            <a:r>
              <a:t>Школьные профориентаторы, образовательные центры подготовки к ЕНТ/IELTS и частные консультанты.</a:t>
            </a:r>
          </a:p>
          <a:p>
            <a:pPr>
              <a:spcBef>
                <a:spcPts val="1000"/>
              </a:spcBef>
              <a:defRPr sz="1000" b="1">
                <a:solidFill>
                  <a:srgbClr val="E11D48"/>
                </a:solidFill>
                <a:latin typeface="Arial"/>
              </a:defRPr>
            </a:pPr>
            <a:r>
              <a:t>КЛЮЧЕВЫЕ БОЛИ:</a:t>
            </a:r>
          </a:p>
          <a:p>
            <a:pPr>
              <a:spcBef>
                <a:spcPts val="200"/>
              </a:spcBef>
              <a:defRPr sz="950">
                <a:solidFill>
                  <a:srgbClr val="475569"/>
                </a:solidFill>
                <a:latin typeface="Arial"/>
              </a:defRPr>
            </a:pPr>
            <a:r>
              <a:t>✕ 1 профориентатор на 200+ учеников школы</a:t>
            </a:r>
          </a:p>
          <a:p>
            <a:pPr>
              <a:spcBef>
                <a:spcPts val="200"/>
              </a:spcBef>
              <a:defRPr sz="950">
                <a:solidFill>
                  <a:srgbClr val="475569"/>
                </a:solidFill>
                <a:latin typeface="Arial"/>
              </a:defRPr>
            </a:pPr>
            <a:r>
              <a:t>✕ Ручной сбор дедлайнов в Excel-таблицах</a:t>
            </a:r>
          </a:p>
          <a:p>
            <a:pPr>
              <a:spcBef>
                <a:spcPts val="200"/>
              </a:spcBef>
              <a:defRPr sz="950">
                <a:solidFill>
                  <a:srgbClr val="475569"/>
                </a:solidFill>
                <a:latin typeface="Arial"/>
              </a:defRPr>
            </a:pPr>
            <a:r>
              <a:t>✕ Сложность составления отчетов родителям</a:t>
            </a:r>
          </a:p>
          <a:p>
            <a:pPr>
              <a:spcBef>
                <a:spcPts val="1000"/>
              </a:spcBef>
              <a:defRPr sz="1000" b="1">
                <a:solidFill>
                  <a:srgbClr val="10B981"/>
                </a:solidFill>
                <a:latin typeface="Arial"/>
              </a:defRPr>
            </a:pPr>
            <a:r>
              <a:t>ЦЕННОСТЬ ADMITROUTE:</a:t>
            </a:r>
          </a:p>
          <a:p>
            <a:pPr>
              <a:spcBef>
                <a:spcPts val="200"/>
              </a:spcBef>
              <a:defRPr sz="950" b="1">
                <a:solidFill>
                  <a:srgbClr val="0F172A"/>
                </a:solidFill>
                <a:latin typeface="Arial"/>
              </a:defRPr>
            </a:pPr>
            <a:r>
              <a:t>✓ Единая панель мониторинга всех учеников</a:t>
            </a:r>
          </a:p>
          <a:p>
            <a:pPr>
              <a:spcBef>
                <a:spcPts val="200"/>
              </a:spcBef>
              <a:defRPr sz="950" b="1">
                <a:solidFill>
                  <a:srgbClr val="0F172A"/>
                </a:solidFill>
                <a:latin typeface="Arial"/>
              </a:defRPr>
            </a:pPr>
            <a:r>
              <a:t>✓ Экспорт красивых отчетов для родителей</a:t>
            </a:r>
          </a:p>
          <a:p>
            <a:pPr>
              <a:spcBef>
                <a:spcPts val="200"/>
              </a:spcBef>
              <a:defRPr sz="950" b="1">
                <a:solidFill>
                  <a:srgbClr val="0F172A"/>
                </a:solidFill>
                <a:latin typeface="Arial"/>
              </a:defRPr>
            </a:pPr>
            <a:r>
              <a:t>✓ Повышение % поступления учеников на гранты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Arial"/>
              </a:defRPr>
            </a:pPr>
            <a:r>
              <a:t>4. ДЕМОНСТРАЦИЯ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Пользовательский путь: от анкеты до гранта за 3 минуты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61872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64748B"/>
                </a:solidFill>
                <a:latin typeface="Arial"/>
              </a:defRPr>
            </a:pPr>
            <a:r>
              <a:t>Бесшовный интерактивный сценарий, полностью закрывающий требования Кейса 02 LOCUS Hackathon.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12064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82880"/>
          <a:lstStyle/>
          <a:p>
            <a:pPr algn="ctr">
              <a:defRPr sz="1000" b="1">
                <a:solidFill>
                  <a:srgbClr val="2563EB"/>
                </a:solidFill>
                <a:latin typeface="Arial"/>
              </a:defRPr>
            </a:pPr>
            <a:r>
              <a:t>ЭТАП 1</a:t>
            </a:r>
          </a:p>
          <a:p>
            <a:pPr>
              <a:spcBef>
                <a:spcPts val="400"/>
              </a:spcBef>
              <a:defRPr sz="1500" b="1">
                <a:solidFill>
                  <a:srgbClr val="0F172A"/>
                </a:solidFill>
                <a:latin typeface="Arial"/>
              </a:defRPr>
            </a:pPr>
            <a:r>
              <a:t>Анкета и диагностика профиля</a:t>
            </a:r>
          </a:p>
          <a:p>
            <a:pPr>
              <a:spcBef>
                <a:spcPts val="400"/>
              </a:spcBef>
              <a:defRPr sz="1100">
                <a:solidFill>
                  <a:srgbClr val="64748B"/>
                </a:solidFill>
                <a:latin typeface="Arial"/>
              </a:defRPr>
            </a:pPr>
            <a:r>
              <a:t>Ученик указывает класс, специальность, GPA, баллы IELTS/SAT/ЕНТ, бюджет и внеучебные активности. Алгоритм формирует мгновенное резюме сильных сторон и ограничений.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783080"/>
            <a:ext cx="512064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82880"/>
          <a:lstStyle/>
          <a:p>
            <a:pPr algn="ctr">
              <a:defRPr sz="1000" b="1">
                <a:solidFill>
                  <a:srgbClr val="2563EB"/>
                </a:solidFill>
                <a:latin typeface="Arial"/>
              </a:defRPr>
            </a:pPr>
            <a:r>
              <a:t>ЭТАП 2</a:t>
            </a:r>
          </a:p>
          <a:p>
            <a:pPr>
              <a:spcBef>
                <a:spcPts val="400"/>
              </a:spcBef>
              <a:defRPr sz="1500" b="1">
                <a:solidFill>
                  <a:srgbClr val="0F172A"/>
                </a:solidFill>
                <a:latin typeface="Arial"/>
              </a:defRPr>
            </a:pPr>
            <a:r>
              <a:t>Сбалансированные рекомендации</a:t>
            </a:r>
          </a:p>
          <a:p>
            <a:pPr>
              <a:spcBef>
                <a:spcPts val="400"/>
              </a:spcBef>
              <a:defRPr sz="1100">
                <a:solidFill>
                  <a:srgbClr val="64748B"/>
                </a:solidFill>
                <a:latin typeface="Arial"/>
              </a:defRPr>
            </a:pPr>
            <a:r>
              <a:t>Каталог из 36+ детальных программ (KZ, Азия, Европа, США) с распределением на Reach, Target и Safety. Возможность сравнения любых 2 вузов по 8 ключевым критериям.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069080"/>
            <a:ext cx="512064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82880"/>
          <a:lstStyle/>
          <a:p>
            <a:pPr algn="ctr">
              <a:defRPr sz="1000" b="1">
                <a:solidFill>
                  <a:srgbClr val="2563EB"/>
                </a:solidFill>
                <a:latin typeface="Arial"/>
              </a:defRPr>
            </a:pPr>
            <a:r>
              <a:t>ЭТАП 3</a:t>
            </a:r>
          </a:p>
          <a:p>
            <a:pPr>
              <a:spcBef>
                <a:spcPts val="400"/>
              </a:spcBef>
              <a:defRPr sz="1500" b="1">
                <a:solidFill>
                  <a:srgbClr val="0F172A"/>
                </a:solidFill>
                <a:latin typeface="Arial"/>
              </a:defRPr>
            </a:pPr>
            <a:r>
              <a:t>Живой AI-поиск любого вуза мира</a:t>
            </a:r>
          </a:p>
          <a:p>
            <a:pPr>
              <a:spcBef>
                <a:spcPts val="400"/>
              </a:spcBef>
              <a:defRPr sz="1100">
                <a:solidFill>
                  <a:srgbClr val="64748B"/>
                </a:solidFill>
                <a:latin typeface="Arial"/>
              </a:defRPr>
            </a:pPr>
            <a:r>
              <a:t>Ввод названия любого университета (Тренто, Bocconi, Waterloo, КБТУ, СДУ) — Gemini 3.6 Flash мгновенно выдает точную карточку с волнами, грантами и персональным шансом.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4069080"/>
            <a:ext cx="512064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82880"/>
          <a:lstStyle/>
          <a:p>
            <a:pPr algn="ctr">
              <a:defRPr sz="1000" b="1">
                <a:solidFill>
                  <a:srgbClr val="2563EB"/>
                </a:solidFill>
                <a:latin typeface="Arial"/>
              </a:defRPr>
            </a:pPr>
            <a:r>
              <a:t>ЭТАП 4</a:t>
            </a:r>
          </a:p>
          <a:p>
            <a:pPr>
              <a:spcBef>
                <a:spcPts val="400"/>
              </a:spcBef>
              <a:defRPr sz="1500" b="1">
                <a:solidFill>
                  <a:srgbClr val="0F172A"/>
                </a:solidFill>
                <a:latin typeface="Arial"/>
              </a:defRPr>
            </a:pPr>
            <a:r>
              <a:t>Канбан-трекер, эссе, бот и шеринг</a:t>
            </a:r>
          </a:p>
          <a:p>
            <a:pPr>
              <a:spcBef>
                <a:spcPts val="400"/>
              </a:spcBef>
              <a:defRPr sz="1100">
                <a:solidFill>
                  <a:srgbClr val="64748B"/>
                </a:solidFill>
                <a:latin typeface="Arial"/>
              </a:defRPr>
            </a:pPr>
            <a:r>
              <a:t>Индивидуальный роадмап дедлайнов, экспорт в календарь (.ics), генератор каркаса эссе, Telegram-бот с уведомлениями и ссылки доступа для родителей и менторов.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Arial"/>
              </a:defRPr>
            </a:pPr>
            <a:r>
              <a:t>5. КОНКУРЕНТНЫЙ АНАЛИЗ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Почему AdmitRoute побеждает альтернативы на рынке?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61872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64748B"/>
                </a:solidFill>
                <a:latin typeface="Arial"/>
              </a:defRPr>
            </a:pPr>
            <a:r>
              <a:t>Сравнение с традиционным консалтингом, обычными чат-ботами общего назначения и сайтами вузов.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2542032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850" b="1">
                <a:solidFill>
                  <a:srgbClr val="64748B"/>
                </a:solidFill>
                <a:latin typeface="Arial"/>
              </a:defRPr>
            </a:pPr>
            <a:r>
              <a:t>ТРАДИЦИОННЫЙ КОНСАЛТИНГ</a:t>
            </a:r>
          </a:p>
          <a:p>
            <a:pPr>
              <a:spcBef>
                <a:spcPts val="300"/>
              </a:spcBef>
              <a:defRPr sz="1350" b="1">
                <a:solidFill>
                  <a:srgbClr val="0F172A"/>
                </a:solidFill>
                <a:latin typeface="Arial"/>
              </a:defRPr>
            </a:pPr>
            <a:r>
              <a:t>Агентства поступления</a:t>
            </a:r>
          </a:p>
          <a:p>
            <a:pPr>
              <a:spcBef>
                <a:spcPts val="400"/>
              </a:spcBef>
              <a:defRPr sz="1500" b="1">
                <a:solidFill>
                  <a:srgbClr val="0F172A"/>
                </a:solidFill>
                <a:latin typeface="Arial"/>
              </a:defRPr>
            </a:pPr>
            <a:r>
              <a:t>$1,500 – $4,000</a:t>
            </a:r>
          </a:p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за сопровождение 1 абитуриента</a:t>
            </a:r>
          </a:p>
          <a:p>
            <a:pPr>
              <a:spcBef>
                <a:spcPts val="500"/>
              </a:spcBef>
              <a:defRPr sz="900">
                <a:solidFill>
                  <a:srgbClr val="475569"/>
                </a:solidFill>
                <a:latin typeface="Arial"/>
              </a:defRPr>
            </a:pPr>
            <a:r>
              <a:t>✕ Заоблачная стоимость для 95% семей</a:t>
            </a:r>
          </a:p>
          <a:p>
            <a:pPr>
              <a:spcBef>
                <a:spcPts val="500"/>
              </a:spcBef>
              <a:defRPr sz="900">
                <a:solidFill>
                  <a:srgbClr val="475569"/>
                </a:solidFill>
                <a:latin typeface="Arial"/>
              </a:defRPr>
            </a:pPr>
            <a:r>
              <a:t>✕ Навязывают платные вузы за комиссию</a:t>
            </a:r>
          </a:p>
          <a:p>
            <a:pPr>
              <a:spcBef>
                <a:spcPts val="500"/>
              </a:spcBef>
              <a:defRPr sz="900">
                <a:solidFill>
                  <a:srgbClr val="475569"/>
                </a:solidFill>
                <a:latin typeface="Arial"/>
              </a:defRPr>
            </a:pPr>
            <a:r>
              <a:t>✕ Субъективная оценка «на глаз» куратора</a:t>
            </a:r>
          </a:p>
          <a:p>
            <a:pPr>
              <a:spcBef>
                <a:spcPts val="500"/>
              </a:spcBef>
              <a:defRPr sz="900">
                <a:solidFill>
                  <a:srgbClr val="475569"/>
                </a:solidFill>
                <a:latin typeface="Arial"/>
              </a:defRPr>
            </a:pPr>
            <a:r>
              <a:t>✕ Долгие ручные созвоны и бюрократия</a:t>
            </a:r>
          </a:p>
          <a:p>
            <a:pPr>
              <a:spcBef>
                <a:spcPts val="500"/>
              </a:spcBef>
              <a:defRPr sz="900">
                <a:solidFill>
                  <a:srgbClr val="475569"/>
                </a:solidFill>
                <a:latin typeface="Arial"/>
              </a:defRPr>
            </a:pPr>
            <a:r>
              <a:t>✕ Нет объективной гарантии гранта</a:t>
            </a:r>
          </a:p>
          <a:p>
            <a:pPr>
              <a:spcBef>
                <a:spcPts val="1200"/>
              </a:spcBef>
              <a:defRPr sz="950" b="1">
                <a:solidFill>
                  <a:srgbClr val="E11D48"/>
                </a:solidFill>
                <a:latin typeface="Arial"/>
              </a:defRPr>
            </a:pPr>
            <a:r>
              <a:t>ИТОГ: Дорого и ангажированно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56432" y="1783080"/>
            <a:ext cx="2542032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850" b="1">
                <a:solidFill>
                  <a:srgbClr val="64748B"/>
                </a:solidFill>
                <a:latin typeface="Arial"/>
              </a:defRPr>
            </a:pPr>
            <a:r>
              <a:t>ОБЫЧНЫЕ ЧАТ-БОТЫ (ИИ)</a:t>
            </a:r>
          </a:p>
          <a:p>
            <a:pPr>
              <a:spcBef>
                <a:spcPts val="300"/>
              </a:spcBef>
              <a:defRPr sz="1350" b="1">
                <a:solidFill>
                  <a:srgbClr val="0F172A"/>
                </a:solidFill>
                <a:latin typeface="Arial"/>
              </a:defRPr>
            </a:pPr>
            <a:r>
              <a:t>ChatGPT / Claude / Gemini</a:t>
            </a:r>
          </a:p>
          <a:p>
            <a:pPr>
              <a:spcBef>
                <a:spcPts val="400"/>
              </a:spcBef>
              <a:defRPr sz="1500" b="1">
                <a:solidFill>
                  <a:srgbClr val="0F172A"/>
                </a:solidFill>
                <a:latin typeface="Arial"/>
              </a:defRPr>
            </a:pPr>
            <a:r>
              <a:t>$0 – $20 / мес</a:t>
            </a:r>
          </a:p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подписка на веб-сервисы</a:t>
            </a:r>
          </a:p>
          <a:p>
            <a:pPr>
              <a:spcBef>
                <a:spcPts val="500"/>
              </a:spcBef>
              <a:defRPr sz="900">
                <a:solidFill>
                  <a:srgbClr val="475569"/>
                </a:solidFill>
                <a:latin typeface="Arial"/>
              </a:defRPr>
            </a:pPr>
            <a:r>
              <a:t>✕ Галлюцинации и выдуманные требования</a:t>
            </a:r>
          </a:p>
          <a:p>
            <a:pPr>
              <a:spcBef>
                <a:spcPts val="500"/>
              </a:spcBef>
              <a:defRPr sz="900">
                <a:solidFill>
                  <a:srgbClr val="475569"/>
                </a:solidFill>
                <a:latin typeface="Arial"/>
              </a:defRPr>
            </a:pPr>
            <a:r>
              <a:t>✕ Не знают порогов ЕНТ и квот РК</a:t>
            </a:r>
          </a:p>
          <a:p>
            <a:pPr>
              <a:spcBef>
                <a:spcPts val="500"/>
              </a:spcBef>
              <a:defRPr sz="900">
                <a:solidFill>
                  <a:srgbClr val="475569"/>
                </a:solidFill>
                <a:latin typeface="Arial"/>
              </a:defRPr>
            </a:pPr>
            <a:r>
              <a:t>✕ Нет математического расчета шансов</a:t>
            </a:r>
          </a:p>
          <a:p>
            <a:pPr>
              <a:spcBef>
                <a:spcPts val="500"/>
              </a:spcBef>
              <a:defRPr sz="900">
                <a:solidFill>
                  <a:srgbClr val="475569"/>
                </a:solidFill>
                <a:latin typeface="Arial"/>
              </a:defRPr>
            </a:pPr>
            <a:r>
              <a:t>✕ Нет интерактивного роадмапа и календаря</a:t>
            </a:r>
          </a:p>
          <a:p>
            <a:pPr>
              <a:spcBef>
                <a:spcPts val="500"/>
              </a:spcBef>
              <a:defRPr sz="900">
                <a:solidFill>
                  <a:srgbClr val="475569"/>
                </a:solidFill>
                <a:latin typeface="Arial"/>
              </a:defRPr>
            </a:pPr>
            <a:r>
              <a:t>✕ Нет шеринга родителям и Telegram-бота</a:t>
            </a:r>
          </a:p>
          <a:p>
            <a:pPr>
              <a:spcBef>
                <a:spcPts val="1200"/>
              </a:spcBef>
              <a:defRPr sz="950" b="1">
                <a:solidFill>
                  <a:srgbClr val="E11D48"/>
                </a:solidFill>
                <a:latin typeface="Arial"/>
              </a:defRPr>
            </a:pPr>
            <a:r>
              <a:t>ИТОГ: Риск дезинформации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1344" y="1783080"/>
            <a:ext cx="2542032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850" b="1">
                <a:solidFill>
                  <a:srgbClr val="64748B"/>
                </a:solidFill>
                <a:latin typeface="Arial"/>
              </a:defRPr>
            </a:pPr>
            <a:r>
              <a:t>КАТАЛОГИ И САЙТЫ ВУЗОВ</a:t>
            </a:r>
          </a:p>
          <a:p>
            <a:pPr>
              <a:spcBef>
                <a:spcPts val="300"/>
              </a:spcBef>
              <a:defRPr sz="1350" b="1">
                <a:solidFill>
                  <a:srgbClr val="0F172A"/>
                </a:solidFill>
                <a:latin typeface="Arial"/>
              </a:defRPr>
            </a:pPr>
            <a:r>
              <a:t>Kundelik, сайты вузов</a:t>
            </a:r>
          </a:p>
          <a:p>
            <a:pPr>
              <a:spcBef>
                <a:spcPts val="400"/>
              </a:spcBef>
              <a:defRPr sz="1500" b="1">
                <a:solidFill>
                  <a:srgbClr val="0F172A"/>
                </a:solidFill>
                <a:latin typeface="Arial"/>
              </a:defRPr>
            </a:pPr>
            <a:r>
              <a:t>0 ₸ (Бесплатно)</a:t>
            </a:r>
          </a:p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открытые веб-страницы</a:t>
            </a:r>
          </a:p>
          <a:p>
            <a:pPr>
              <a:spcBef>
                <a:spcPts val="500"/>
              </a:spcBef>
              <a:defRPr sz="900">
                <a:solidFill>
                  <a:srgbClr val="475569"/>
                </a:solidFill>
                <a:latin typeface="Arial"/>
              </a:defRPr>
            </a:pPr>
            <a:r>
              <a:t>✕ Разрозненный хаос на сотнях сайтов</a:t>
            </a:r>
          </a:p>
          <a:p>
            <a:pPr>
              <a:spcBef>
                <a:spcPts val="500"/>
              </a:spcBef>
              <a:defRPr sz="900">
                <a:solidFill>
                  <a:srgbClr val="475569"/>
                </a:solidFill>
                <a:latin typeface="Arial"/>
              </a:defRPr>
            </a:pPr>
            <a:r>
              <a:t>✕ Устаревшие правила и даты волн</a:t>
            </a:r>
          </a:p>
          <a:p>
            <a:pPr>
              <a:spcBef>
                <a:spcPts val="500"/>
              </a:spcBef>
              <a:defRPr sz="900">
                <a:solidFill>
                  <a:srgbClr val="475569"/>
                </a:solidFill>
                <a:latin typeface="Arial"/>
              </a:defRPr>
            </a:pPr>
            <a:r>
              <a:t>✕ Нет адаптации под баллы студента</a:t>
            </a:r>
          </a:p>
          <a:p>
            <a:pPr>
              <a:spcBef>
                <a:spcPts val="500"/>
              </a:spcBef>
              <a:defRPr sz="900">
                <a:solidFill>
                  <a:srgbClr val="475569"/>
                </a:solidFill>
                <a:latin typeface="Arial"/>
              </a:defRPr>
            </a:pPr>
            <a:r>
              <a:t>✕ Нет защиты от ложных надежд</a:t>
            </a:r>
          </a:p>
          <a:p>
            <a:pPr>
              <a:spcBef>
                <a:spcPts val="500"/>
              </a:spcBef>
              <a:defRPr sz="900">
                <a:solidFill>
                  <a:srgbClr val="475569"/>
                </a:solidFill>
                <a:latin typeface="Arial"/>
              </a:defRPr>
            </a:pPr>
            <a:r>
              <a:t>✕ 120+ часов на ручной поиск данных</a:t>
            </a:r>
          </a:p>
          <a:p>
            <a:pPr>
              <a:spcBef>
                <a:spcPts val="1200"/>
              </a:spcBef>
              <a:defRPr sz="950" b="1">
                <a:solidFill>
                  <a:srgbClr val="E11D48"/>
                </a:solidFill>
                <a:latin typeface="Arial"/>
              </a:defRPr>
            </a:pPr>
            <a:r>
              <a:t>ИТОГ: Информационный хаос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06256" y="1783080"/>
            <a:ext cx="2542032" cy="4572000"/>
          </a:xfrm>
          <a:prstGeom prst="roundRect">
            <a:avLst/>
          </a:prstGeom>
          <a:solidFill>
            <a:srgbClr val="EEF2FF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850" b="1">
                <a:solidFill>
                  <a:srgbClr val="2563EB"/>
                </a:solidFill>
                <a:latin typeface="Arial"/>
              </a:defRPr>
            </a:pPr>
            <a:r>
              <a:t>НАШЕ ПРЕИМУЩЕСТВО</a:t>
            </a:r>
          </a:p>
          <a:p>
            <a:pPr>
              <a:spcBef>
                <a:spcPts val="300"/>
              </a:spcBef>
              <a:defRPr sz="1350" b="1">
                <a:solidFill>
                  <a:srgbClr val="2563EB"/>
                </a:solidFill>
                <a:latin typeface="Arial"/>
              </a:defRPr>
            </a:pPr>
            <a:r>
              <a:t>AdmitRoute (Победитель)</a:t>
            </a:r>
          </a:p>
          <a:p>
            <a:pPr>
              <a:spcBef>
                <a:spcPts val="400"/>
              </a:spcBef>
              <a:defRPr sz="1500" b="1">
                <a:solidFill>
                  <a:srgbClr val="0F172A"/>
                </a:solidFill>
                <a:latin typeface="Arial"/>
              </a:defRPr>
            </a:pPr>
            <a:r>
              <a:t>0 ₸ / 4 990 ₸ мес</a:t>
            </a:r>
          </a:p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Freemium + доступный PRO</a:t>
            </a:r>
          </a:p>
          <a:p>
            <a:pPr>
              <a:spcBef>
                <a:spcPts val="500"/>
              </a:spcBef>
              <a:defRPr sz="900" b="1">
                <a:solidFill>
                  <a:srgbClr val="0F172A"/>
                </a:solidFill>
                <a:latin typeface="Arial"/>
              </a:defRPr>
            </a:pPr>
            <a:r>
              <a:t>✓ Математический скоринг шансов в %</a:t>
            </a:r>
          </a:p>
          <a:p>
            <a:pPr>
              <a:spcBef>
                <a:spcPts val="500"/>
              </a:spcBef>
              <a:defRPr sz="900" b="1">
                <a:solidFill>
                  <a:srgbClr val="0F172A"/>
                </a:solidFill>
                <a:latin typeface="Arial"/>
              </a:defRPr>
            </a:pPr>
            <a:r>
              <a:t>✓ Алгоритм «Анти-иллюзия» против отказа</a:t>
            </a:r>
          </a:p>
          <a:p>
            <a:pPr>
              <a:spcBef>
                <a:spcPts val="500"/>
              </a:spcBef>
              <a:defRPr sz="900" b="1">
                <a:solidFill>
                  <a:srgbClr val="0F172A"/>
                </a:solidFill>
                <a:latin typeface="Arial"/>
              </a:defRPr>
            </a:pPr>
            <a:r>
              <a:t>✓ База РК и мира + живой AI-поиск</a:t>
            </a:r>
          </a:p>
          <a:p>
            <a:pPr>
              <a:spcBef>
                <a:spcPts val="500"/>
              </a:spcBef>
              <a:defRPr sz="900" b="1">
                <a:solidFill>
                  <a:srgbClr val="0F172A"/>
                </a:solidFill>
                <a:latin typeface="Arial"/>
              </a:defRPr>
            </a:pPr>
            <a:r>
              <a:t>✓ Дедлайны в iCal + Telegram-напоминания</a:t>
            </a:r>
          </a:p>
          <a:p>
            <a:pPr>
              <a:spcBef>
                <a:spcPts val="500"/>
              </a:spcBef>
              <a:defRPr sz="900" b="1">
                <a:solidFill>
                  <a:srgbClr val="0F172A"/>
                </a:solidFill>
                <a:latin typeface="Arial"/>
              </a:defRPr>
            </a:pPr>
            <a:r>
              <a:t>✓ Шеринг-ссылки для родителей и менторов</a:t>
            </a:r>
          </a:p>
          <a:p>
            <a:pPr>
              <a:spcBef>
                <a:spcPts val="1200"/>
              </a:spcBef>
              <a:defRPr sz="950" b="1">
                <a:solidFill>
                  <a:srgbClr val="2563EB"/>
                </a:solidFill>
                <a:latin typeface="Arial"/>
              </a:defRPr>
            </a:pPr>
            <a:r>
              <a:t>ИТОГ: Честно, точно и доступно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Arial"/>
              </a:defRPr>
            </a:pPr>
            <a:r>
              <a:t>6. РЫНОК И БИЗНЕС-МОДЕЛЬ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Объем рынка и масштабируемая монетизация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61872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64748B"/>
                </a:solidFill>
                <a:latin typeface="Arial"/>
              </a:defRPr>
            </a:pPr>
            <a:r>
              <a:t>Растущий спрос на гранты в Казахстане и устойчивая Unit-экономика: Freemium, B2C PRO и B2B.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83080"/>
            <a:ext cx="5120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РЫНОЧНЫЙ ОБЪЕМ (TAM / SAM / SOM)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148840"/>
            <a:ext cx="246888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2200" b="1">
                <a:solidFill>
                  <a:srgbClr val="2563EB"/>
                </a:solidFill>
                <a:latin typeface="Arial"/>
              </a:defRPr>
            </a:pPr>
            <a:r>
              <a:t>180 000+</a:t>
            </a:r>
          </a:p>
          <a:p>
            <a:pPr>
              <a:spcBef>
                <a:spcPts val="400"/>
              </a:spcBef>
              <a:defRPr sz="1000" b="1">
                <a:solidFill>
                  <a:srgbClr val="0F172A"/>
                </a:solidFill>
                <a:latin typeface="Arial"/>
              </a:defRPr>
            </a:pPr>
            <a:r>
              <a:t>Выпускников школ в РК ежегодно (TAM)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37560" y="2148840"/>
            <a:ext cx="246888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2200" b="1">
                <a:solidFill>
                  <a:srgbClr val="2563EB"/>
                </a:solidFill>
                <a:latin typeface="Arial"/>
              </a:defRPr>
            </a:pPr>
            <a:r>
              <a:t>35 000+</a:t>
            </a:r>
          </a:p>
          <a:p>
            <a:pPr>
              <a:spcBef>
                <a:spcPts val="400"/>
              </a:spcBef>
              <a:defRPr sz="1000" b="1">
                <a:solidFill>
                  <a:srgbClr val="0F172A"/>
                </a:solidFill>
                <a:latin typeface="Arial"/>
              </a:defRPr>
            </a:pPr>
            <a:r>
              <a:t>Абитуриентов за рубеж (SAM: Европа, Азия, США)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206240"/>
            <a:ext cx="246888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2200" b="1">
                <a:solidFill>
                  <a:srgbClr val="2563EB"/>
                </a:solidFill>
                <a:latin typeface="Arial"/>
              </a:defRPr>
            </a:pPr>
            <a:r>
              <a:t>75 000+</a:t>
            </a:r>
          </a:p>
          <a:p>
            <a:pPr>
              <a:spcBef>
                <a:spcPts val="400"/>
              </a:spcBef>
              <a:defRPr sz="1000" b="1">
                <a:solidFill>
                  <a:srgbClr val="0F172A"/>
                </a:solidFill>
                <a:latin typeface="Arial"/>
              </a:defRPr>
            </a:pPr>
            <a:r>
              <a:t>Госгрантов в РК с жестким конкурсом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37560" y="4206240"/>
            <a:ext cx="246888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2200" b="1">
                <a:solidFill>
                  <a:srgbClr val="2563EB"/>
                </a:solidFill>
                <a:latin typeface="Arial"/>
              </a:defRPr>
            </a:pPr>
            <a:r>
              <a:t>+38%</a:t>
            </a:r>
          </a:p>
          <a:p>
            <a:pPr>
              <a:spcBef>
                <a:spcPts val="400"/>
              </a:spcBef>
              <a:defRPr sz="1000" b="1">
                <a:solidFill>
                  <a:srgbClr val="0F172A"/>
                </a:solidFill>
                <a:latin typeface="Arial"/>
              </a:defRPr>
            </a:pPr>
            <a:r>
              <a:t>Ежегодный рост запросов на стипендии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1783080"/>
            <a:ext cx="5212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ТАРИФЫ И ИСТОЧНИКИ ВЫРУЧКИ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2148840"/>
            <a:ext cx="52120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37160"/>
          <a:lstStyle/>
          <a:p>
            <a:pPr algn="ctr">
              <a:defRPr sz="1200" b="1">
                <a:solidFill>
                  <a:srgbClr val="0F172A"/>
                </a:solidFill>
                <a:latin typeface="Arial"/>
              </a:defRPr>
            </a:pPr>
            <a:r>
              <a:t>FREEMIUM (0 ₸)</a:t>
            </a:r>
          </a:p>
          <a:p>
            <a:pPr>
              <a:spcBef>
                <a:spcPts val="300"/>
              </a:spcBef>
              <a:defRPr sz="1000">
                <a:solidFill>
                  <a:srgbClr val="64748B"/>
                </a:solidFill>
                <a:latin typeface="Arial"/>
              </a:defRPr>
            </a:pPr>
            <a:r>
              <a:t>Широкий органический охват: топ-36 вузов, расчет шансов, базовый роадмап.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3520440"/>
            <a:ext cx="5212080" cy="1234440"/>
          </a:xfrm>
          <a:prstGeom prst="roundRect">
            <a:avLst/>
          </a:prstGeom>
          <a:solidFill>
            <a:srgbClr val="EEF2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37160"/>
          <a:lstStyle/>
          <a:p>
            <a:pPr algn="ctr">
              <a:defRPr sz="1200" b="1">
                <a:solidFill>
                  <a:srgbClr val="2563EB"/>
                </a:solidFill>
                <a:latin typeface="Arial"/>
              </a:defRPr>
            </a:pPr>
            <a:r>
              <a:t>ADMITROUTE PRO (4 990 ₸ / мес)</a:t>
            </a:r>
          </a:p>
          <a:p>
            <a:pPr>
              <a:spcBef>
                <a:spcPts val="300"/>
              </a:spcBef>
              <a:defRPr sz="1000">
                <a:solidFill>
                  <a:srgbClr val="64748B"/>
                </a:solidFill>
                <a:latin typeface="Arial"/>
              </a:defRPr>
            </a:pPr>
            <a:r>
              <a:t>Безлимитный AI-поиск любого вуза мира, конструктор эссе, трекер дедлайнов и чат.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4892040"/>
            <a:ext cx="52120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37160"/>
          <a:lstStyle/>
          <a:p>
            <a:pPr algn="ctr">
              <a:defRPr sz="1200" b="1">
                <a:solidFill>
                  <a:srgbClr val="0F172A"/>
                </a:solidFill>
                <a:latin typeface="Arial"/>
              </a:defRPr>
            </a:pPr>
            <a:r>
              <a:t>B2B ПАРТНЕРСТВО (По запросу)</a:t>
            </a:r>
          </a:p>
          <a:p>
            <a:pPr>
              <a:spcBef>
                <a:spcPts val="300"/>
              </a:spcBef>
              <a:defRPr sz="1000">
                <a:solidFill>
                  <a:srgbClr val="64748B"/>
                </a:solidFill>
                <a:latin typeface="Arial"/>
              </a:defRPr>
            </a:pPr>
            <a:r>
              <a:t>Для школ и центров: дашборд учеников, шеринг-отчеты родителям, пакетные скидки.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dmitroute_line_logo_178954910489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731520"/>
            <a:ext cx="1371600" cy="13716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192024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Arial"/>
              </a:defRPr>
            </a:pPr>
            <a:r>
              <a:t>AdmitRoute: Поступление без стресса и иллюзий</a:t>
            </a:r>
          </a:p>
          <a:p>
            <a:pPr>
              <a:spcBef>
                <a:spcPts val="400"/>
              </a:spcBef>
              <a:defRPr sz="1400">
                <a:solidFill>
                  <a:srgbClr val="94A3B8"/>
                </a:solidFill>
                <a:latin typeface="Arial"/>
              </a:defRPr>
            </a:pPr>
            <a:r>
              <a:t>Создан для LOCUS Hackathon 2026 (Кейс 02, код LOCUSCASE2). Готов к масштабированию.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3337560"/>
            <a:ext cx="10515600" cy="7772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09728"/>
          <a:lstStyle/>
          <a:p>
            <a:pPr algn="ctr">
              <a:defRPr sz="950" b="1">
                <a:solidFill>
                  <a:srgbClr val="38BDF8"/>
                </a:solidFill>
              </a:defRPr>
            </a:pPr>
            <a:r>
              <a:t>ТЕХНОЛОГИЧЕСКИЙ СТЕК:</a:t>
            </a:r>
          </a:p>
          <a:p>
            <a:pPr>
              <a:spcBef>
                <a:spcPts val="200"/>
              </a:spcBef>
              <a:defRPr sz="1150" b="1">
                <a:solidFill>
                  <a:srgbClr val="FFFFFF"/>
                </a:solidFill>
              </a:defRPr>
            </a:pPr>
            <a:r>
              <a:t>Google Gemini 3.6 Flash • Neon Serverless PostgreSQL (AWS) • React 19 / TypeScript • Telegram Bot Webhooks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4343400"/>
            <a:ext cx="3383280" cy="19202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defRPr sz="1000" b="1">
                <a:solidFill>
                  <a:srgbClr val="38BDF8"/>
                </a:solidFill>
                <a:latin typeface="Arial"/>
              </a:defRPr>
            </a:pPr>
            <a:r>
              <a:t>ОСНОВАТЕЛЬ И РАЗРАБОТКА</a:t>
            </a:r>
          </a:p>
          <a:p>
            <a:pPr>
              <a:spcBef>
                <a:spcPts val="400"/>
              </a:spcBef>
              <a:defRPr sz="1600" b="1">
                <a:solidFill>
                  <a:srgbClr val="FFFFFF"/>
                </a:solidFill>
                <a:latin typeface="Arial"/>
              </a:defRPr>
            </a:pPr>
            <a:r>
              <a:t>Адильхан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  <a:latin typeface="Arial"/>
              </a:defRPr>
            </a:pPr>
            <a:r>
              <a:t>Product &amp; Engineering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0560" y="4343400"/>
            <a:ext cx="3383280" cy="19202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defRPr sz="1000" b="1">
                <a:solidFill>
                  <a:srgbClr val="38BDF8"/>
                </a:solidFill>
                <a:latin typeface="Arial"/>
              </a:defRPr>
            </a:pPr>
            <a:r>
              <a:t>WHATSAPP / ТЕЛЕФОН</a:t>
            </a:r>
          </a:p>
          <a:p>
            <a:pPr>
              <a:spcBef>
                <a:spcPts val="400"/>
              </a:spcBef>
              <a:defRPr sz="1600" b="1">
                <a:solidFill>
                  <a:srgbClr val="FFFFFF"/>
                </a:solidFill>
                <a:latin typeface="Arial"/>
              </a:defRPr>
            </a:pPr>
            <a:r>
              <a:t>+7 775 253 01 10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  <a:latin typeface="Arial"/>
              </a:defRPr>
            </a:pPr>
            <a:r>
              <a:t>Прямая связь и оформление PRO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38160" y="4343400"/>
            <a:ext cx="3383280" cy="19202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defRPr sz="1000" b="1">
                <a:solidFill>
                  <a:srgbClr val="38BDF8"/>
                </a:solidFill>
                <a:latin typeface="Arial"/>
              </a:defRPr>
            </a:pPr>
            <a:r>
              <a:t>TELEGRAM</a:t>
            </a:r>
          </a:p>
          <a:p>
            <a:pPr>
              <a:spcBef>
                <a:spcPts val="400"/>
              </a:spcBef>
              <a:defRPr sz="1600" b="1">
                <a:solidFill>
                  <a:srgbClr val="FFFFFF"/>
                </a:solidFill>
                <a:latin typeface="Arial"/>
              </a:defRPr>
            </a:pPr>
            <a:r>
              <a:t>@nftkoroi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  <a:latin typeface="Arial"/>
              </a:defRPr>
            </a:pPr>
            <a:r>
              <a:t>Оперативные ответы в мессенджере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